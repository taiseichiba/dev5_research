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365 Copilotを活用したエージェント開発の活動報告" id="{CBF00F36-D540-4ED4-973D-08A27F1E71B2}">
          <p14:sldIdLst>
            <p14:sldId id="2561"/>
            <p14:sldId id="2562"/>
          </p14:sldIdLst>
        </p14:section>
        <p14:section name="成果の概要とCopilotエージェントの説明" id="{1A62400A-1598-4D0A-8F04-2050B5C9F4BA}">
          <p14:sldIdLst>
            <p14:sldId id="2563"/>
            <p14:sldId id="2564"/>
            <p14:sldId id="2565"/>
          </p14:sldIdLst>
        </p14:section>
        <p14:section name="アプリ開発工程の詳細" id="{5C62E0DC-14FF-49FF-A506-3F036352108C}">
          <p14:sldIdLst>
            <p14:sldId id="2566"/>
            <p14:sldId id="2567"/>
            <p14:sldId id="2568"/>
            <p14:sldId id="2569"/>
          </p14:sldIdLst>
        </p14:section>
        <p14:section name="エージェントの評価と検証" id="{66CF0F17-EADE-49F4-9301-C1D3AF98CEBE}">
          <p14:sldIdLst>
            <p14:sldId id="2570"/>
            <p14:sldId id="2571"/>
            <p14:sldId id="2572"/>
            <p14:sldId id="2573"/>
          </p14:sldIdLst>
        </p14:section>
        <p14:section name="今後の予定と追加検証" id="{4B7DD06F-9BBF-49E8-A9F2-07BDD1FCEDD4}">
          <p14:sldIdLst>
            <p14:sldId id="2574"/>
            <p14:sldId id="2575"/>
            <p14:sldId id="2576"/>
            <p14:sldId id="2577"/>
          </p14:sldIdLst>
        </p14:section>
        <p14:section name="まとめと今後の展望" id="{85554E2C-22BE-49C1-941B-AB31BBAA97AF}">
          <p14:sldIdLst>
            <p14:sldId id="25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55" d="100"/>
          <a:sy n="55" d="100"/>
        </p:scale>
        <p:origin x="94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千葉 泰誠" userId="5664d1c8-46f1-4a27-8a9f-d38b3766c677" providerId="ADAL" clId="{1563D71F-C66F-44C5-B662-DDC8CB21FE19}"/>
    <pc:docChg chg="custSel modSld">
      <pc:chgData name="千葉 泰誠" userId="5664d1c8-46f1-4a27-8a9f-d38b3766c677" providerId="ADAL" clId="{1563D71F-C66F-44C5-B662-DDC8CB21FE19}" dt="2025-12-26T07:08:41.429" v="21" actId="20577"/>
      <pc:docMkLst>
        <pc:docMk/>
      </pc:docMkLst>
      <pc:sldChg chg="modSp mod">
        <pc:chgData name="千葉 泰誠" userId="5664d1c8-46f1-4a27-8a9f-d38b3766c677" providerId="ADAL" clId="{1563D71F-C66F-44C5-B662-DDC8CB21FE19}" dt="2025-12-26T07:08:20.946" v="20" actId="121"/>
        <pc:sldMkLst>
          <pc:docMk/>
          <pc:sldMk cId="830156083" sldId="2561"/>
        </pc:sldMkLst>
        <pc:spChg chg="mod">
          <ac:chgData name="千葉 泰誠" userId="5664d1c8-46f1-4a27-8a9f-d38b3766c677" providerId="ADAL" clId="{1563D71F-C66F-44C5-B662-DDC8CB21FE19}" dt="2025-12-26T07:08:20.946" v="20" actId="121"/>
          <ac:spMkLst>
            <pc:docMk/>
            <pc:sldMk cId="830156083" sldId="2561"/>
            <ac:spMk id="2" creationId="{E609AA98-5D4A-D530-F45E-A9B23D07B8C6}"/>
          </ac:spMkLst>
        </pc:spChg>
      </pc:sldChg>
      <pc:sldChg chg="modSp">
        <pc:chgData name="千葉 泰誠" userId="5664d1c8-46f1-4a27-8a9f-d38b3766c677" providerId="ADAL" clId="{1563D71F-C66F-44C5-B662-DDC8CB21FE19}" dt="2025-12-26T07:08:41.429" v="21" actId="20577"/>
        <pc:sldMkLst>
          <pc:docMk/>
          <pc:sldMk cId="3745181910" sldId="2564"/>
        </pc:sldMkLst>
        <pc:spChg chg="mod">
          <ac:chgData name="千葉 泰誠" userId="5664d1c8-46f1-4a27-8a9f-d38b3766c677" providerId="ADAL" clId="{1563D71F-C66F-44C5-B662-DDC8CB21FE19}" dt="2025-12-26T07:08:41.429" v="21" actId="20577"/>
          <ac:spMkLst>
            <pc:docMk/>
            <pc:sldMk cId="3745181910" sldId="2564"/>
            <ac:spMk id="8" creationId="{332EBCC9-BD85-4A38-9FC4-8FAB03E73DA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7321DA-8721-4D19-8FF9-51D441EC9B2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8432E9A-8E60-4B7E-9B66-1F61F4D4F392}">
      <dgm:prSet/>
      <dgm:spPr/>
      <dgm:t>
        <a:bodyPr/>
        <a:lstStyle/>
        <a:p>
          <a:pPr>
            <a:lnSpc>
              <a:spcPct val="100000"/>
            </a:lnSpc>
            <a:defRPr b="1"/>
          </a:pPr>
          <a:r>
            <a:rPr lang="en-US"/>
            <a:t>開発の進捗</a:t>
          </a:r>
        </a:p>
      </dgm:t>
    </dgm:pt>
    <dgm:pt modelId="{4D0832D9-4316-4851-8FD3-2C37E28526CD}" type="parTrans" cxnId="{BD592DB8-1509-4FCD-9497-FC4E701FB0F5}">
      <dgm:prSet/>
      <dgm:spPr/>
      <dgm:t>
        <a:bodyPr/>
        <a:lstStyle/>
        <a:p>
          <a:endParaRPr lang="en-US"/>
        </a:p>
      </dgm:t>
    </dgm:pt>
    <dgm:pt modelId="{104548B9-7206-43CE-B961-D8FE62D74C33}" type="sibTrans" cxnId="{BD592DB8-1509-4FCD-9497-FC4E701FB0F5}">
      <dgm:prSet/>
      <dgm:spPr/>
      <dgm:t>
        <a:bodyPr/>
        <a:lstStyle/>
        <a:p>
          <a:pPr>
            <a:lnSpc>
              <a:spcPct val="100000"/>
            </a:lnSpc>
            <a:defRPr b="1"/>
          </a:pPr>
          <a:endParaRPr lang="en-US"/>
        </a:p>
      </dgm:t>
    </dgm:pt>
    <dgm:pt modelId="{97C04682-D607-4AD9-8075-56F3A45FC2B8}">
      <dgm:prSet/>
      <dgm:spPr/>
      <dgm:t>
        <a:bodyPr/>
        <a:lstStyle/>
        <a:p>
          <a:pPr>
            <a:lnSpc>
              <a:spcPct val="100000"/>
            </a:lnSpc>
          </a:pPr>
          <a:r>
            <a:rPr lang="en-US"/>
            <a:t>M365 Copilotを活用したエージェント開発は順調に進み、具体的な成果が得られています。</a:t>
          </a:r>
        </a:p>
      </dgm:t>
    </dgm:pt>
    <dgm:pt modelId="{DDAD1A01-F5CC-4E53-8966-3895FFC2BAF7}" type="parTrans" cxnId="{73A320A9-91C6-40F9-94FC-93AC49CA89D9}">
      <dgm:prSet/>
      <dgm:spPr/>
      <dgm:t>
        <a:bodyPr/>
        <a:lstStyle/>
        <a:p>
          <a:endParaRPr lang="en-US"/>
        </a:p>
      </dgm:t>
    </dgm:pt>
    <dgm:pt modelId="{7F82752B-EF33-4B8F-BEBD-FDC492F4CE9F}" type="sibTrans" cxnId="{73A320A9-91C6-40F9-94FC-93AC49CA89D9}">
      <dgm:prSet/>
      <dgm:spPr/>
      <dgm:t>
        <a:bodyPr/>
        <a:lstStyle/>
        <a:p>
          <a:endParaRPr lang="en-US"/>
        </a:p>
      </dgm:t>
    </dgm:pt>
    <dgm:pt modelId="{21096A76-B0E0-4308-A281-F69E2E1E3C80}">
      <dgm:prSet/>
      <dgm:spPr/>
      <dgm:t>
        <a:bodyPr/>
        <a:lstStyle/>
        <a:p>
          <a:pPr>
            <a:lnSpc>
              <a:spcPct val="100000"/>
            </a:lnSpc>
            <a:defRPr b="1"/>
          </a:pPr>
          <a:r>
            <a:rPr lang="en-US"/>
            <a:t>評価と改善</a:t>
          </a:r>
        </a:p>
      </dgm:t>
    </dgm:pt>
    <dgm:pt modelId="{17312016-A915-4500-81EC-ABA354892538}" type="parTrans" cxnId="{48D5BB7C-5DFF-45CE-8287-FFDE042BE929}">
      <dgm:prSet/>
      <dgm:spPr/>
      <dgm:t>
        <a:bodyPr/>
        <a:lstStyle/>
        <a:p>
          <a:endParaRPr lang="en-US"/>
        </a:p>
      </dgm:t>
    </dgm:pt>
    <dgm:pt modelId="{B6B80236-FCD6-49C7-9EEA-FBCFF22D1751}" type="sibTrans" cxnId="{48D5BB7C-5DFF-45CE-8287-FFDE042BE929}">
      <dgm:prSet/>
      <dgm:spPr/>
      <dgm:t>
        <a:bodyPr/>
        <a:lstStyle/>
        <a:p>
          <a:pPr>
            <a:lnSpc>
              <a:spcPct val="100000"/>
            </a:lnSpc>
            <a:defRPr b="1"/>
          </a:pPr>
          <a:endParaRPr lang="en-US"/>
        </a:p>
      </dgm:t>
    </dgm:pt>
    <dgm:pt modelId="{9592950C-816D-4AD8-9A46-49FD25CEAC2C}">
      <dgm:prSet/>
      <dgm:spPr/>
      <dgm:t>
        <a:bodyPr/>
        <a:lstStyle/>
        <a:p>
          <a:pPr>
            <a:lnSpc>
              <a:spcPct val="100000"/>
            </a:lnSpc>
          </a:pPr>
          <a:r>
            <a:rPr lang="en-US"/>
            <a:t>継続的な評価と改善を重ね、エージェントの実用性と信頼性を高めています。</a:t>
          </a:r>
        </a:p>
      </dgm:t>
    </dgm:pt>
    <dgm:pt modelId="{D1CBB93D-DC1C-44DD-BC52-C1B08CF1582C}" type="parTrans" cxnId="{C81C0E26-ADB3-47FA-A940-CD81E48A7556}">
      <dgm:prSet/>
      <dgm:spPr/>
      <dgm:t>
        <a:bodyPr/>
        <a:lstStyle/>
        <a:p>
          <a:endParaRPr lang="en-US"/>
        </a:p>
      </dgm:t>
    </dgm:pt>
    <dgm:pt modelId="{29EB3A25-F040-41DB-A906-9DA3440DBBCA}" type="sibTrans" cxnId="{C81C0E26-ADB3-47FA-A940-CD81E48A7556}">
      <dgm:prSet/>
      <dgm:spPr/>
      <dgm:t>
        <a:bodyPr/>
        <a:lstStyle/>
        <a:p>
          <a:endParaRPr lang="en-US"/>
        </a:p>
      </dgm:t>
    </dgm:pt>
    <dgm:pt modelId="{1F77A5BB-DCD6-4DC2-B49F-FAFDE2D176FA}">
      <dgm:prSet/>
      <dgm:spPr/>
      <dgm:t>
        <a:bodyPr/>
        <a:lstStyle/>
        <a:p>
          <a:pPr>
            <a:lnSpc>
              <a:spcPct val="100000"/>
            </a:lnSpc>
            <a:defRPr b="1"/>
          </a:pPr>
          <a:r>
            <a:rPr lang="en-US"/>
            <a:t>今後の目標</a:t>
          </a:r>
        </a:p>
      </dgm:t>
    </dgm:pt>
    <dgm:pt modelId="{867C68BA-5F83-42D6-936D-9AEBC112BA6D}" type="parTrans" cxnId="{8E2887E3-AC6D-4188-8DBD-6D16089654DD}">
      <dgm:prSet/>
      <dgm:spPr/>
      <dgm:t>
        <a:bodyPr/>
        <a:lstStyle/>
        <a:p>
          <a:endParaRPr lang="en-US"/>
        </a:p>
      </dgm:t>
    </dgm:pt>
    <dgm:pt modelId="{A29A4A06-F6A0-4C65-967B-895C4DF9AAA4}" type="sibTrans" cxnId="{8E2887E3-AC6D-4188-8DBD-6D16089654DD}">
      <dgm:prSet/>
      <dgm:spPr/>
      <dgm:t>
        <a:bodyPr/>
        <a:lstStyle/>
        <a:p>
          <a:endParaRPr lang="en-US"/>
        </a:p>
      </dgm:t>
    </dgm:pt>
    <dgm:pt modelId="{16C58968-3EE5-4EF5-9A03-641520D1B41A}">
      <dgm:prSet/>
      <dgm:spPr/>
      <dgm:t>
        <a:bodyPr/>
        <a:lstStyle/>
        <a:p>
          <a:pPr>
            <a:lnSpc>
              <a:spcPct val="100000"/>
            </a:lnSpc>
          </a:pPr>
          <a:r>
            <a:rPr lang="en-US"/>
            <a:t>より実用的で信頼性の高いエージェントの開発を目指し、取り組みを進めていきます。</a:t>
          </a:r>
        </a:p>
      </dgm:t>
    </dgm:pt>
    <dgm:pt modelId="{BA425721-371E-4D60-BFD6-714520272E45}" type="parTrans" cxnId="{1CB74FBD-2529-40C5-B5DB-CC2447C03B8A}">
      <dgm:prSet/>
      <dgm:spPr/>
      <dgm:t>
        <a:bodyPr/>
        <a:lstStyle/>
        <a:p>
          <a:endParaRPr lang="en-US"/>
        </a:p>
      </dgm:t>
    </dgm:pt>
    <dgm:pt modelId="{638A484C-196A-40C7-A2FE-F311D927B227}" type="sibTrans" cxnId="{1CB74FBD-2529-40C5-B5DB-CC2447C03B8A}">
      <dgm:prSet/>
      <dgm:spPr/>
      <dgm:t>
        <a:bodyPr/>
        <a:lstStyle/>
        <a:p>
          <a:endParaRPr lang="en-US"/>
        </a:p>
      </dgm:t>
    </dgm:pt>
    <dgm:pt modelId="{C7542C00-0FE3-4980-A15F-3A405F72736F}" type="pres">
      <dgm:prSet presAssocID="{327321DA-8721-4D19-8FF9-51D441EC9B25}" presName="Name0" presStyleCnt="0">
        <dgm:presLayoutVars>
          <dgm:dir/>
          <dgm:resizeHandles val="exact"/>
        </dgm:presLayoutVars>
      </dgm:prSet>
      <dgm:spPr/>
    </dgm:pt>
    <dgm:pt modelId="{B613D0F7-3FAC-4238-B338-31261A2F3A52}" type="pres">
      <dgm:prSet presAssocID="{18432E9A-8E60-4B7E-9B66-1F61F4D4F392}" presName="compNode" presStyleCnt="0"/>
      <dgm:spPr/>
    </dgm:pt>
    <dgm:pt modelId="{7D28FA92-7265-440D-9F2F-480DA0F3D07F}" type="pres">
      <dgm:prSet presAssocID="{18432E9A-8E60-4B7E-9B66-1F61F4D4F392}" presName="pictRect" presStyleLbl="revTx" presStyleIdx="0" presStyleCnt="6">
        <dgm:presLayoutVars>
          <dgm:chMax val="0"/>
          <dgm:bulletEnabled/>
        </dgm:presLayoutVars>
      </dgm:prSet>
      <dgm:spPr/>
    </dgm:pt>
    <dgm:pt modelId="{0B44F904-B296-4BDA-9445-CFB0B7210A88}" type="pres">
      <dgm:prSet presAssocID="{18432E9A-8E60-4B7E-9B66-1F61F4D4F392}" presName="textRect" presStyleLbl="revTx" presStyleIdx="1" presStyleCnt="6">
        <dgm:presLayoutVars>
          <dgm:bulletEnabled/>
        </dgm:presLayoutVars>
      </dgm:prSet>
      <dgm:spPr/>
    </dgm:pt>
    <dgm:pt modelId="{4182739B-3D27-4D9E-9765-B0244D432A2A}" type="pres">
      <dgm:prSet presAssocID="{104548B9-7206-43CE-B961-D8FE62D74C33}" presName="sibTrans" presStyleLbl="sibTrans2D1" presStyleIdx="0" presStyleCnt="0"/>
      <dgm:spPr/>
    </dgm:pt>
    <dgm:pt modelId="{444AE131-0A68-4437-949C-CC1EEBB69D03}" type="pres">
      <dgm:prSet presAssocID="{21096A76-B0E0-4308-A281-F69E2E1E3C80}" presName="compNode" presStyleCnt="0"/>
      <dgm:spPr/>
    </dgm:pt>
    <dgm:pt modelId="{54CBD081-3CC0-4677-B1BD-96AD9B93A1B8}" type="pres">
      <dgm:prSet presAssocID="{21096A76-B0E0-4308-A281-F69E2E1E3C80}" presName="pictRect" presStyleLbl="revTx" presStyleIdx="2" presStyleCnt="6">
        <dgm:presLayoutVars>
          <dgm:chMax val="0"/>
          <dgm:bulletEnabled/>
        </dgm:presLayoutVars>
      </dgm:prSet>
      <dgm:spPr/>
    </dgm:pt>
    <dgm:pt modelId="{87966004-30A5-45CB-ABCC-8ADF732CB160}" type="pres">
      <dgm:prSet presAssocID="{21096A76-B0E0-4308-A281-F69E2E1E3C80}" presName="textRect" presStyleLbl="revTx" presStyleIdx="3" presStyleCnt="6">
        <dgm:presLayoutVars>
          <dgm:bulletEnabled/>
        </dgm:presLayoutVars>
      </dgm:prSet>
      <dgm:spPr/>
    </dgm:pt>
    <dgm:pt modelId="{59CB5412-0F4C-47F4-8845-AC5DECF15BBA}" type="pres">
      <dgm:prSet presAssocID="{B6B80236-FCD6-49C7-9EEA-FBCFF22D1751}" presName="sibTrans" presStyleLbl="sibTrans2D1" presStyleIdx="0" presStyleCnt="0"/>
      <dgm:spPr/>
    </dgm:pt>
    <dgm:pt modelId="{63D8D6AB-E9D5-4A40-9B5D-8649275FD082}" type="pres">
      <dgm:prSet presAssocID="{1F77A5BB-DCD6-4DC2-B49F-FAFDE2D176FA}" presName="compNode" presStyleCnt="0"/>
      <dgm:spPr/>
    </dgm:pt>
    <dgm:pt modelId="{BA76EF2E-6A67-4E03-9C78-E27A57F07A85}" type="pres">
      <dgm:prSet presAssocID="{1F77A5BB-DCD6-4DC2-B49F-FAFDE2D176FA}" presName="pictRect" presStyleLbl="revTx" presStyleIdx="4" presStyleCnt="6">
        <dgm:presLayoutVars>
          <dgm:chMax val="0"/>
          <dgm:bulletEnabled/>
        </dgm:presLayoutVars>
      </dgm:prSet>
      <dgm:spPr/>
    </dgm:pt>
    <dgm:pt modelId="{AE891115-E2B4-4D08-AA05-307A9B624C81}" type="pres">
      <dgm:prSet presAssocID="{1F77A5BB-DCD6-4DC2-B49F-FAFDE2D176FA}" presName="textRect" presStyleLbl="revTx" presStyleIdx="5" presStyleCnt="6">
        <dgm:presLayoutVars>
          <dgm:bulletEnabled/>
        </dgm:presLayoutVars>
      </dgm:prSet>
      <dgm:spPr/>
    </dgm:pt>
  </dgm:ptLst>
  <dgm:cxnLst>
    <dgm:cxn modelId="{C81C0E26-ADB3-47FA-A940-CD81E48A7556}" srcId="{21096A76-B0E0-4308-A281-F69E2E1E3C80}" destId="{9592950C-816D-4AD8-9A46-49FD25CEAC2C}" srcOrd="0" destOrd="0" parTransId="{D1CBB93D-DC1C-44DD-BC52-C1B08CF1582C}" sibTransId="{29EB3A25-F040-41DB-A906-9DA3440DBBCA}"/>
    <dgm:cxn modelId="{80986B64-638D-49D6-BB50-D41811C9666F}" type="presOf" srcId="{97C04682-D607-4AD9-8075-56F3A45FC2B8}" destId="{0B44F904-B296-4BDA-9445-CFB0B7210A88}" srcOrd="0" destOrd="0" presId="urn:microsoft.com/office/officeart/2024/3/layout/hArchList1"/>
    <dgm:cxn modelId="{48D5BB7C-5DFF-45CE-8287-FFDE042BE929}" srcId="{327321DA-8721-4D19-8FF9-51D441EC9B25}" destId="{21096A76-B0E0-4308-A281-F69E2E1E3C80}" srcOrd="1" destOrd="0" parTransId="{17312016-A915-4500-81EC-ABA354892538}" sibTransId="{B6B80236-FCD6-49C7-9EEA-FBCFF22D1751}"/>
    <dgm:cxn modelId="{244EEF88-BCF7-4284-9FCA-628493FBE18D}" type="presOf" srcId="{18432E9A-8E60-4B7E-9B66-1F61F4D4F392}" destId="{7D28FA92-7265-440D-9F2F-480DA0F3D07F}" srcOrd="0" destOrd="0" presId="urn:microsoft.com/office/officeart/2024/3/layout/hArchList1"/>
    <dgm:cxn modelId="{73A320A9-91C6-40F9-94FC-93AC49CA89D9}" srcId="{18432E9A-8E60-4B7E-9B66-1F61F4D4F392}" destId="{97C04682-D607-4AD9-8075-56F3A45FC2B8}" srcOrd="0" destOrd="0" parTransId="{DDAD1A01-F5CC-4E53-8966-3895FFC2BAF7}" sibTransId="{7F82752B-EF33-4B8F-BEBD-FDC492F4CE9F}"/>
    <dgm:cxn modelId="{EE3E94AB-EA91-4967-A661-34552AB4C653}" type="presOf" srcId="{327321DA-8721-4D19-8FF9-51D441EC9B25}" destId="{C7542C00-0FE3-4980-A15F-3A405F72736F}" srcOrd="0" destOrd="0" presId="urn:microsoft.com/office/officeart/2024/3/layout/hArchList1"/>
    <dgm:cxn modelId="{C655F4AE-2866-4E0B-A4B9-009E24A152AC}" type="presOf" srcId="{104548B9-7206-43CE-B961-D8FE62D74C33}" destId="{4182739B-3D27-4D9E-9765-B0244D432A2A}" srcOrd="0" destOrd="0" presId="urn:microsoft.com/office/officeart/2024/3/layout/hArchList1"/>
    <dgm:cxn modelId="{BD592DB8-1509-4FCD-9497-FC4E701FB0F5}" srcId="{327321DA-8721-4D19-8FF9-51D441EC9B25}" destId="{18432E9A-8E60-4B7E-9B66-1F61F4D4F392}" srcOrd="0" destOrd="0" parTransId="{4D0832D9-4316-4851-8FD3-2C37E28526CD}" sibTransId="{104548B9-7206-43CE-B961-D8FE62D74C33}"/>
    <dgm:cxn modelId="{1CB74FBD-2529-40C5-B5DB-CC2447C03B8A}" srcId="{1F77A5BB-DCD6-4DC2-B49F-FAFDE2D176FA}" destId="{16C58968-3EE5-4EF5-9A03-641520D1B41A}" srcOrd="0" destOrd="0" parTransId="{BA425721-371E-4D60-BFD6-714520272E45}" sibTransId="{638A484C-196A-40C7-A2FE-F311D927B227}"/>
    <dgm:cxn modelId="{21279AC1-638B-414F-ADD6-D550087EB118}" type="presOf" srcId="{16C58968-3EE5-4EF5-9A03-641520D1B41A}" destId="{AE891115-E2B4-4D08-AA05-307A9B624C81}" srcOrd="0" destOrd="0" presId="urn:microsoft.com/office/officeart/2024/3/layout/hArchList1"/>
    <dgm:cxn modelId="{B295EECB-CBDA-4CA2-AE7D-93C90EC7E64E}" type="presOf" srcId="{B6B80236-FCD6-49C7-9EEA-FBCFF22D1751}" destId="{59CB5412-0F4C-47F4-8845-AC5DECF15BBA}" srcOrd="0" destOrd="0" presId="urn:microsoft.com/office/officeart/2024/3/layout/hArchList1"/>
    <dgm:cxn modelId="{8A0C05DC-A98B-45A6-AE18-AAF3EE7F6941}" type="presOf" srcId="{1F77A5BB-DCD6-4DC2-B49F-FAFDE2D176FA}" destId="{BA76EF2E-6A67-4E03-9C78-E27A57F07A85}" srcOrd="0" destOrd="0" presId="urn:microsoft.com/office/officeart/2024/3/layout/hArchList1"/>
    <dgm:cxn modelId="{A2240EE3-1B6A-4677-BD8F-25DEF6514328}" type="presOf" srcId="{9592950C-816D-4AD8-9A46-49FD25CEAC2C}" destId="{87966004-30A5-45CB-ABCC-8ADF732CB160}" srcOrd="0" destOrd="0" presId="urn:microsoft.com/office/officeart/2024/3/layout/hArchList1"/>
    <dgm:cxn modelId="{8E2887E3-AC6D-4188-8DBD-6D16089654DD}" srcId="{327321DA-8721-4D19-8FF9-51D441EC9B25}" destId="{1F77A5BB-DCD6-4DC2-B49F-FAFDE2D176FA}" srcOrd="2" destOrd="0" parTransId="{867C68BA-5F83-42D6-936D-9AEBC112BA6D}" sibTransId="{A29A4A06-F6A0-4C65-967B-895C4DF9AAA4}"/>
    <dgm:cxn modelId="{8F54B6F3-8F05-44FD-8825-BFCEBC01D627}" type="presOf" srcId="{21096A76-B0E0-4308-A281-F69E2E1E3C80}" destId="{54CBD081-3CC0-4677-B1BD-96AD9B93A1B8}" srcOrd="0" destOrd="0" presId="urn:microsoft.com/office/officeart/2024/3/layout/hArchList1"/>
    <dgm:cxn modelId="{D9DE8688-2A8B-47DF-B1B0-E5B87739A055}" type="presParOf" srcId="{C7542C00-0FE3-4980-A15F-3A405F72736F}" destId="{B613D0F7-3FAC-4238-B338-31261A2F3A52}" srcOrd="0" destOrd="0" presId="urn:microsoft.com/office/officeart/2024/3/layout/hArchList1"/>
    <dgm:cxn modelId="{BF3F7EBC-763F-4BFD-A135-E7B1B0BCE242}" type="presParOf" srcId="{B613D0F7-3FAC-4238-B338-31261A2F3A52}" destId="{7D28FA92-7265-440D-9F2F-480DA0F3D07F}" srcOrd="0" destOrd="0" presId="urn:microsoft.com/office/officeart/2024/3/layout/hArchList1"/>
    <dgm:cxn modelId="{521B6647-77BD-47FC-A667-F7F01D88318C}" type="presParOf" srcId="{B613D0F7-3FAC-4238-B338-31261A2F3A52}" destId="{0B44F904-B296-4BDA-9445-CFB0B7210A88}" srcOrd="1" destOrd="0" presId="urn:microsoft.com/office/officeart/2024/3/layout/hArchList1"/>
    <dgm:cxn modelId="{38B82058-ADEA-493A-A1D9-5C616B54E620}" type="presParOf" srcId="{C7542C00-0FE3-4980-A15F-3A405F72736F}" destId="{4182739B-3D27-4D9E-9765-B0244D432A2A}" srcOrd="1" destOrd="0" presId="urn:microsoft.com/office/officeart/2024/3/layout/hArchList1"/>
    <dgm:cxn modelId="{1A462EE2-8AA4-4776-9583-0BA9CADBBB95}" type="presParOf" srcId="{C7542C00-0FE3-4980-A15F-3A405F72736F}" destId="{444AE131-0A68-4437-949C-CC1EEBB69D03}" srcOrd="2" destOrd="0" presId="urn:microsoft.com/office/officeart/2024/3/layout/hArchList1"/>
    <dgm:cxn modelId="{8A51C2AB-C05F-4F04-906F-B439396AC19A}" type="presParOf" srcId="{444AE131-0A68-4437-949C-CC1EEBB69D03}" destId="{54CBD081-3CC0-4677-B1BD-96AD9B93A1B8}" srcOrd="0" destOrd="0" presId="urn:microsoft.com/office/officeart/2024/3/layout/hArchList1"/>
    <dgm:cxn modelId="{0A328C57-07DF-4396-A44D-B1C5796D9D6C}" type="presParOf" srcId="{444AE131-0A68-4437-949C-CC1EEBB69D03}" destId="{87966004-30A5-45CB-ABCC-8ADF732CB160}" srcOrd="1" destOrd="0" presId="urn:microsoft.com/office/officeart/2024/3/layout/hArchList1"/>
    <dgm:cxn modelId="{B5C05C39-DB93-45D4-918D-9BC1C03D8AE2}" type="presParOf" srcId="{C7542C00-0FE3-4980-A15F-3A405F72736F}" destId="{59CB5412-0F4C-47F4-8845-AC5DECF15BBA}" srcOrd="3" destOrd="0" presId="urn:microsoft.com/office/officeart/2024/3/layout/hArchList1"/>
    <dgm:cxn modelId="{8DAC4B79-B2E3-4D7F-95A9-1E8B82912805}" type="presParOf" srcId="{C7542C00-0FE3-4980-A15F-3A405F72736F}" destId="{63D8D6AB-E9D5-4A40-9B5D-8649275FD082}" srcOrd="4" destOrd="0" presId="urn:microsoft.com/office/officeart/2024/3/layout/hArchList1"/>
    <dgm:cxn modelId="{10B3F938-F026-47D7-80AE-377987F59604}" type="presParOf" srcId="{63D8D6AB-E9D5-4A40-9B5D-8649275FD082}" destId="{BA76EF2E-6A67-4E03-9C78-E27A57F07A85}" srcOrd="0" destOrd="0" presId="urn:microsoft.com/office/officeart/2024/3/layout/hArchList1"/>
    <dgm:cxn modelId="{A0F824E8-6122-4712-BAA4-F172BC869E41}" type="presParOf" srcId="{63D8D6AB-E9D5-4A40-9B5D-8649275FD082}" destId="{AE891115-E2B4-4D08-AA05-307A9B624C8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28FA92-7265-440D-9F2F-480DA0F3D07F}">
      <dsp:nvSpPr>
        <dsp:cNvPr id="0" name=""/>
        <dsp:cNvSpPr/>
      </dsp:nvSpPr>
      <dsp:spPr>
        <a:xfrm>
          <a:off x="0" y="0"/>
          <a:ext cx="3403241" cy="350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開発の進捗</a:t>
          </a:r>
        </a:p>
      </dsp:txBody>
      <dsp:txXfrm>
        <a:off x="0" y="0"/>
        <a:ext cx="3403241" cy="350828"/>
      </dsp:txXfrm>
    </dsp:sp>
    <dsp:sp modelId="{0B44F904-B296-4BDA-9445-CFB0B7210A88}">
      <dsp:nvSpPr>
        <dsp:cNvPr id="0" name=""/>
        <dsp:cNvSpPr/>
      </dsp:nvSpPr>
      <dsp:spPr>
        <a:xfrm>
          <a:off x="0" y="350828"/>
          <a:ext cx="3403241"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M365 Copilotを活用したエージェント開発は順調に進み、具体的な成果が得られています。</a:t>
          </a:r>
        </a:p>
      </dsp:txBody>
      <dsp:txXfrm>
        <a:off x="0" y="350828"/>
        <a:ext cx="3403241" cy="2423904"/>
      </dsp:txXfrm>
    </dsp:sp>
    <dsp:sp modelId="{54CBD081-3CC0-4677-B1BD-96AD9B93A1B8}">
      <dsp:nvSpPr>
        <dsp:cNvPr id="0" name=""/>
        <dsp:cNvSpPr/>
      </dsp:nvSpPr>
      <dsp:spPr>
        <a:xfrm>
          <a:off x="3743566" y="0"/>
          <a:ext cx="3403241" cy="350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評価と改善</a:t>
          </a:r>
        </a:p>
      </dsp:txBody>
      <dsp:txXfrm>
        <a:off x="3743566" y="0"/>
        <a:ext cx="3403241" cy="350828"/>
      </dsp:txXfrm>
    </dsp:sp>
    <dsp:sp modelId="{87966004-30A5-45CB-ABCC-8ADF732CB160}">
      <dsp:nvSpPr>
        <dsp:cNvPr id="0" name=""/>
        <dsp:cNvSpPr/>
      </dsp:nvSpPr>
      <dsp:spPr>
        <a:xfrm>
          <a:off x="3743566" y="350828"/>
          <a:ext cx="3403241"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継続的な評価と改善を重ね、エージェントの実用性と信頼性を高めています。</a:t>
          </a:r>
        </a:p>
      </dsp:txBody>
      <dsp:txXfrm>
        <a:off x="3743566" y="350828"/>
        <a:ext cx="3403241" cy="2423904"/>
      </dsp:txXfrm>
    </dsp:sp>
    <dsp:sp modelId="{BA76EF2E-6A67-4E03-9C78-E27A57F07A85}">
      <dsp:nvSpPr>
        <dsp:cNvPr id="0" name=""/>
        <dsp:cNvSpPr/>
      </dsp:nvSpPr>
      <dsp:spPr>
        <a:xfrm>
          <a:off x="7487132" y="0"/>
          <a:ext cx="3403241" cy="3508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今後の目標</a:t>
          </a:r>
        </a:p>
      </dsp:txBody>
      <dsp:txXfrm>
        <a:off x="7487132" y="0"/>
        <a:ext cx="3403241" cy="350828"/>
      </dsp:txXfrm>
    </dsp:sp>
    <dsp:sp modelId="{AE891115-E2B4-4D08-AA05-307A9B624C81}">
      <dsp:nvSpPr>
        <dsp:cNvPr id="0" name=""/>
        <dsp:cNvSpPr/>
      </dsp:nvSpPr>
      <dsp:spPr>
        <a:xfrm>
          <a:off x="7487132" y="350828"/>
          <a:ext cx="3403241"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より実用的で信頼性の高いエージェントの開発を目指し、取り組みを進めていきます。</a:t>
          </a:r>
        </a:p>
      </dsp:txBody>
      <dsp:txXfrm>
        <a:off x="7487132" y="350828"/>
        <a:ext cx="3403241" cy="2423904"/>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3A9ED-4D36-4243-9C06-AB3F66062066}" type="datetimeFigureOut">
              <a:t>1/14/2026</a:t>
            </a:fld>
            <a:endParaRPr kumimoji="1"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t>Click to edit Master text styles</a:t>
            </a:r>
          </a:p>
          <a:p>
            <a:pPr lvl="1"/>
            <a:r>
              <a:rPr kumimoji="1" lang="en-US"/>
              <a:t>Second level</a:t>
            </a:r>
          </a:p>
          <a:p>
            <a:pPr lvl="2"/>
            <a:r>
              <a:rPr kumimoji="1" lang="en-US"/>
              <a:t>Third level</a:t>
            </a:r>
          </a:p>
          <a:p>
            <a:pPr lvl="3"/>
            <a:r>
              <a:rPr kumimoji="1" lang="en-US"/>
              <a:t>Fourth level</a:t>
            </a:r>
          </a:p>
          <a:p>
            <a:pPr lvl="4"/>
            <a:r>
              <a:rPr kumimoji="1"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1AD14-70D7-4359-B81C-0F3ED9507234}" type="slidenum">
              <a:t>‹#›</a:t>
            </a:fld>
            <a:endParaRPr kumimoji="1" lang="en-US"/>
          </a:p>
        </p:txBody>
      </p:sp>
    </p:spTree>
    <p:extLst>
      <p:ext uri="{BB962C8B-B14F-4D97-AF65-F5344CB8AC3E}">
        <p14:creationId xmlns:p14="http://schemas.microsoft.com/office/powerpoint/2010/main" val="1190865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生成コンテンツは間違っている可能性があります。
---
本プレゼンテーションでは、M365 Copilotを用いたエージェント開発プロジェクトの進捗・成果を報告します。エージェントの特徴や機能、開発工程、評価結果、そして今後の課題と計画について詳しく説明します。
</a:t>
            </a:r>
          </a:p>
        </p:txBody>
      </p:sp>
      <p:sp>
        <p:nvSpPr>
          <p:cNvPr id="4" name="Slide Number Placeholder 3"/>
          <p:cNvSpPr>
            <a:spLocks noGrp="1"/>
          </p:cNvSpPr>
          <p:nvPr>
            <p:ph type="sldNum" sz="quarter" idx="5"/>
          </p:nvPr>
        </p:nvSpPr>
        <p:spPr/>
        <p:txBody>
          <a:bodyPr/>
          <a:lstStyle/>
          <a:p>
            <a:fld id="{D68B11BC-CED6-4172-94CF-1B59D8D94232}" type="slidenum">
              <a:t>1</a:t>
            </a:fld>
            <a:endParaRPr lang="en-US"/>
          </a:p>
        </p:txBody>
      </p:sp>
    </p:spTree>
    <p:extLst>
      <p:ext uri="{BB962C8B-B14F-4D97-AF65-F5344CB8AC3E}">
        <p14:creationId xmlns:p14="http://schemas.microsoft.com/office/powerpoint/2010/main" val="4237884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まず、M365 Copilotで作成したエージェントの成果とその特徴を紹介します。次に、Kiroを使ったアプリ開発の流れやエージェント組み込み方法を解説し、評価・検証の内容を共有します。最後に、今後の予定と追加検証の計画についてお伝えします。</a:t>
            </a:r>
          </a:p>
        </p:txBody>
      </p:sp>
      <p:sp>
        <p:nvSpPr>
          <p:cNvPr id="4" name="Slide Number Placeholder 3"/>
          <p:cNvSpPr>
            <a:spLocks noGrp="1"/>
          </p:cNvSpPr>
          <p:nvPr>
            <p:ph type="sldNum" sz="quarter" idx="5"/>
          </p:nvPr>
        </p:nvSpPr>
        <p:spPr/>
        <p:txBody>
          <a:bodyPr/>
          <a:lstStyle/>
          <a:p>
            <a:fld id="{D68B11BC-CED6-4172-94CF-1B59D8D94232}" type="slidenum">
              <a:t>2</a:t>
            </a:fld>
            <a:endParaRPr lang="en-US"/>
          </a:p>
        </p:txBody>
      </p:sp>
    </p:spTree>
    <p:extLst>
      <p:ext uri="{BB962C8B-B14F-4D97-AF65-F5344CB8AC3E}">
        <p14:creationId xmlns:p14="http://schemas.microsoft.com/office/powerpoint/2010/main" val="721799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このセクションでは、M365 Copilotを活用して作成したエージェントの成果を振り返り、エージェントの特徴および主な機能についてわかりやすく解説します。</a:t>
            </a:r>
          </a:p>
        </p:txBody>
      </p:sp>
      <p:sp>
        <p:nvSpPr>
          <p:cNvPr id="4" name="Slide Number Placeholder 3"/>
          <p:cNvSpPr>
            <a:spLocks noGrp="1"/>
          </p:cNvSpPr>
          <p:nvPr>
            <p:ph type="sldNum" sz="quarter" idx="5"/>
          </p:nvPr>
        </p:nvSpPr>
        <p:spPr/>
        <p:txBody>
          <a:bodyPr/>
          <a:lstStyle/>
          <a:p>
            <a:fld id="{D68B11BC-CED6-4172-94CF-1B59D8D94232}" type="slidenum">
              <a:t>3</a:t>
            </a:fld>
            <a:endParaRPr lang="en-US"/>
          </a:p>
        </p:txBody>
      </p:sp>
    </p:spTree>
    <p:extLst>
      <p:ext uri="{BB962C8B-B14F-4D97-AF65-F5344CB8AC3E}">
        <p14:creationId xmlns:p14="http://schemas.microsoft.com/office/powerpoint/2010/main" val="2274932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M365 Copilotを活用することで、効率的にエージェントを作成できました。作成したエージェントはユーザーの支援に役立ち、実用的なタスクを自動化するなど、多くの成果を挙げています。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4</a:t>
            </a:fld>
            <a:endParaRPr lang="en-US"/>
          </a:p>
        </p:txBody>
      </p:sp>
    </p:spTree>
    <p:extLst>
      <p:ext uri="{BB962C8B-B14F-4D97-AF65-F5344CB8AC3E}">
        <p14:creationId xmlns:p14="http://schemas.microsoft.com/office/powerpoint/2010/main" val="1578405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開発したCopilotエージェントは自然言語処理に優れ、ユーザーの質問に対して適切かつ迅速に回答できます。また、他のM365アプリと連携し、効率的に業務をサポートする機能を備えています。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5</a:t>
            </a:fld>
            <a:endParaRPr lang="en-US"/>
          </a:p>
        </p:txBody>
      </p:sp>
    </p:spTree>
    <p:extLst>
      <p:ext uri="{BB962C8B-B14F-4D97-AF65-F5344CB8AC3E}">
        <p14:creationId xmlns:p14="http://schemas.microsoft.com/office/powerpoint/2010/main" val="239267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ここでは、Kiroを利用したアプリ作成の流れや基本的な機能を具体的に説明し、Copilotエージェントの組み込み方法についても詳述します。</a:t>
            </a:r>
          </a:p>
        </p:txBody>
      </p:sp>
      <p:sp>
        <p:nvSpPr>
          <p:cNvPr id="4" name="Slide Number Placeholder 3"/>
          <p:cNvSpPr>
            <a:spLocks noGrp="1"/>
          </p:cNvSpPr>
          <p:nvPr>
            <p:ph type="sldNum" sz="quarter" idx="5"/>
          </p:nvPr>
        </p:nvSpPr>
        <p:spPr/>
        <p:txBody>
          <a:bodyPr/>
          <a:lstStyle/>
          <a:p>
            <a:fld id="{D68B11BC-CED6-4172-94CF-1B59D8D94232}" type="slidenum">
              <a:t>6</a:t>
            </a:fld>
            <a:endParaRPr lang="en-US"/>
          </a:p>
        </p:txBody>
      </p:sp>
    </p:spTree>
    <p:extLst>
      <p:ext uri="{BB962C8B-B14F-4D97-AF65-F5344CB8AC3E}">
        <p14:creationId xmlns:p14="http://schemas.microsoft.com/office/powerpoint/2010/main" val="2160773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Kiroプラットフォームを使用してアプリを構築しました。要件定義から設計、実装、テストまでのプロセスを効率化し、短期間での開発を可能にしました。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7</a:t>
            </a:fld>
            <a:endParaRPr lang="en-US"/>
          </a:p>
        </p:txBody>
      </p:sp>
    </p:spTree>
    <p:extLst>
      <p:ext uri="{BB962C8B-B14F-4D97-AF65-F5344CB8AC3E}">
        <p14:creationId xmlns:p14="http://schemas.microsoft.com/office/powerpoint/2010/main" val="2008705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作成したアプリはユーザーインターフェースが直感的で、エージェントによる自動応答やタスク管理を容易に行えます。複数の機能を統合し、業務効率化を実現しています。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8</a:t>
            </a:fld>
            <a:endParaRPr lang="en-US"/>
          </a:p>
        </p:txBody>
      </p:sp>
    </p:spTree>
    <p:extLst>
      <p:ext uri="{BB962C8B-B14F-4D97-AF65-F5344CB8AC3E}">
        <p14:creationId xmlns:p14="http://schemas.microsoft.com/office/powerpoint/2010/main" val="207511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アプリ内へのCopilotエージェントの組み込みはAPI連携を中心に行い、スムーズな動作を実現しました。エージェントとアプリ間の通信方式や認証方法についても工夫しています。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9</a:t>
            </a:fld>
            <a:endParaRPr lang="en-US"/>
          </a:p>
        </p:txBody>
      </p:sp>
    </p:spTree>
    <p:extLst>
      <p:ext uri="{BB962C8B-B14F-4D97-AF65-F5344CB8AC3E}">
        <p14:creationId xmlns:p14="http://schemas.microsoft.com/office/powerpoint/2010/main" val="738138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開発したエージェントの性能を評価するための観点と手順を紹介します。アプリ内での動作検証と初期評価結果をまとめ、課題や改善点を明らかにします。</a:t>
            </a:r>
          </a:p>
        </p:txBody>
      </p:sp>
      <p:sp>
        <p:nvSpPr>
          <p:cNvPr id="4" name="Slide Number Placeholder 3"/>
          <p:cNvSpPr>
            <a:spLocks noGrp="1"/>
          </p:cNvSpPr>
          <p:nvPr>
            <p:ph type="sldNum" sz="quarter" idx="5"/>
          </p:nvPr>
        </p:nvSpPr>
        <p:spPr/>
        <p:txBody>
          <a:bodyPr/>
          <a:lstStyle/>
          <a:p>
            <a:fld id="{D68B11BC-CED6-4172-94CF-1B59D8D94232}" type="slidenum">
              <a:t>10</a:t>
            </a:fld>
            <a:endParaRPr lang="en-US"/>
          </a:p>
        </p:txBody>
      </p:sp>
    </p:spTree>
    <p:extLst>
      <p:ext uri="{BB962C8B-B14F-4D97-AF65-F5344CB8AC3E}">
        <p14:creationId xmlns:p14="http://schemas.microsoft.com/office/powerpoint/2010/main" val="57447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エージェントの応答精度、処理速度、ユーザビリティを評価指標とし、テストケースを作成して検証を実施しました。評価手順を体系的に整備し、信頼性の高い検証を行いました。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11</a:t>
            </a:fld>
            <a:endParaRPr lang="en-US"/>
          </a:p>
        </p:txBody>
      </p:sp>
    </p:spTree>
    <p:extLst>
      <p:ext uri="{BB962C8B-B14F-4D97-AF65-F5344CB8AC3E}">
        <p14:creationId xmlns:p14="http://schemas.microsoft.com/office/powerpoint/2010/main" val="1456220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実際のアプリ環境でエージェントが期待通りに動作するかを確認し、動作の安定性や連携部分の問題を検出しました。ユーザーインタラクションのフィードバックも収集しました。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12</a:t>
            </a:fld>
            <a:endParaRPr lang="en-US"/>
          </a:p>
        </p:txBody>
      </p:sp>
    </p:spTree>
    <p:extLst>
      <p:ext uri="{BB962C8B-B14F-4D97-AF65-F5344CB8AC3E}">
        <p14:creationId xmlns:p14="http://schemas.microsoft.com/office/powerpoint/2010/main" val="1443865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評価の結果、エージェントは高い応答精度を示し、業務支援に有効であることが確認されました。一方で、一部のケースで改善が必要な点も見つかり、今後の課題として整理しています。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13</a:t>
            </a:fld>
            <a:endParaRPr lang="en-US"/>
          </a:p>
        </p:txBody>
      </p:sp>
    </p:spTree>
    <p:extLst>
      <p:ext uri="{BB962C8B-B14F-4D97-AF65-F5344CB8AC3E}">
        <p14:creationId xmlns:p14="http://schemas.microsoft.com/office/powerpoint/2010/main" val="1405137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最後に、今後の開発計画としてアプリ動作の回答一致確認やデータ参照先の検証方法の検討、さらにExcelやMarkdown形式での回答差分検証やAIフレンドリーな形式の提案について説明します。</a:t>
            </a:r>
          </a:p>
        </p:txBody>
      </p:sp>
      <p:sp>
        <p:nvSpPr>
          <p:cNvPr id="4" name="Slide Number Placeholder 3"/>
          <p:cNvSpPr>
            <a:spLocks noGrp="1"/>
          </p:cNvSpPr>
          <p:nvPr>
            <p:ph type="sldNum" sz="quarter" idx="5"/>
          </p:nvPr>
        </p:nvSpPr>
        <p:spPr/>
        <p:txBody>
          <a:bodyPr/>
          <a:lstStyle/>
          <a:p>
            <a:fld id="{D68B11BC-CED6-4172-94CF-1B59D8D94232}" type="slidenum">
              <a:t>14</a:t>
            </a:fld>
            <a:endParaRPr lang="en-US"/>
          </a:p>
        </p:txBody>
      </p:sp>
    </p:spTree>
    <p:extLst>
      <p:ext uri="{BB962C8B-B14F-4D97-AF65-F5344CB8AC3E}">
        <p14:creationId xmlns:p14="http://schemas.microsoft.com/office/powerpoint/2010/main" val="890196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ユーザーの操作とエージェントの回答が一致しているかを定期的にチェックし、改善点を洗い出す作業を計画しています。これにより実用性の向上を目指します。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15</a:t>
            </a:fld>
            <a:endParaRPr lang="en-US"/>
          </a:p>
        </p:txBody>
      </p:sp>
    </p:spTree>
    <p:extLst>
      <p:ext uri="{BB962C8B-B14F-4D97-AF65-F5344CB8AC3E}">
        <p14:creationId xmlns:p14="http://schemas.microsoft.com/office/powerpoint/2010/main" val="1655188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エージェントが参照するデータソースの正確性と最新性を検証する方法を検討しています。信頼できる情報をもとに回答を生成するための仕組みを強化します。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16</a:t>
            </a:fld>
            <a:endParaRPr lang="en-US"/>
          </a:p>
        </p:txBody>
      </p:sp>
    </p:spTree>
    <p:extLst>
      <p:ext uri="{BB962C8B-B14F-4D97-AF65-F5344CB8AC3E}">
        <p14:creationId xmlns:p14="http://schemas.microsoft.com/office/powerpoint/2010/main" val="683944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将来的には、ExcelやMarkdown形式で回答の差分を検証し、AIが理解しやすい形式への変換を提案することも検討しています。これにより解析効率の向上を目指します。
画像ソース: Microsoft 365 コンテンツ ライブラリ
</a:t>
            </a:r>
          </a:p>
        </p:txBody>
      </p:sp>
      <p:sp>
        <p:nvSpPr>
          <p:cNvPr id="4" name="Slide Number Placeholder 3"/>
          <p:cNvSpPr>
            <a:spLocks noGrp="1"/>
          </p:cNvSpPr>
          <p:nvPr>
            <p:ph type="sldNum" sz="quarter" idx="5"/>
          </p:nvPr>
        </p:nvSpPr>
        <p:spPr/>
        <p:txBody>
          <a:bodyPr/>
          <a:lstStyle/>
          <a:p>
            <a:fld id="{D68B11BC-CED6-4172-94CF-1B59D8D94232}" type="slidenum">
              <a:t>17</a:t>
            </a:fld>
            <a:endParaRPr lang="en-US"/>
          </a:p>
        </p:txBody>
      </p:sp>
    </p:spTree>
    <p:extLst>
      <p:ext uri="{BB962C8B-B14F-4D97-AF65-F5344CB8AC3E}">
        <p14:creationId xmlns:p14="http://schemas.microsoft.com/office/powerpoint/2010/main" val="782636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M365 Copilotを活用したエージェント開発は順調に進み、多くの成果を得ています。今後も評価と改善を重ね、より実用的で信頼性の高いエージェントを目指して取り組んでいきます。</a:t>
            </a:r>
          </a:p>
        </p:txBody>
      </p:sp>
      <p:sp>
        <p:nvSpPr>
          <p:cNvPr id="4" name="Slide Number Placeholder 3"/>
          <p:cNvSpPr>
            <a:spLocks noGrp="1"/>
          </p:cNvSpPr>
          <p:nvPr>
            <p:ph type="sldNum" sz="quarter" idx="5"/>
          </p:nvPr>
        </p:nvSpPr>
        <p:spPr/>
        <p:txBody>
          <a:bodyPr/>
          <a:lstStyle/>
          <a:p>
            <a:fld id="{D68B11BC-CED6-4172-94CF-1B59D8D94232}" type="slidenum">
              <a:t>18</a:t>
            </a:fld>
            <a:endParaRPr lang="en-US"/>
          </a:p>
        </p:txBody>
      </p:sp>
    </p:spTree>
    <p:extLst>
      <p:ext uri="{BB962C8B-B14F-4D97-AF65-F5344CB8AC3E}">
        <p14:creationId xmlns:p14="http://schemas.microsoft.com/office/powerpoint/2010/main" val="1822341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2410290052"/>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1/14/2026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0885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1/14/2026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050005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1602850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184220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222959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536558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563704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1/14/2026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0632397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7793076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2944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10376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4775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506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76379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35693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96451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604542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219729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73692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19062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128950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3338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016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992797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814755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388396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68537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598292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355913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216255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487254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256615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1/14/2026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0515504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1/14/2026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9068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1/14/2026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0657617"/>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65460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63915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52748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1/14/2026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6921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1/14/2026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94153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8155190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644379"/>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105533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1/14/2026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619459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1/14/2026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080875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1/14/2026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3625510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4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9AA98-5D4A-D530-F45E-A9B23D07B8C6}"/>
              </a:ext>
            </a:extLst>
          </p:cNvPr>
          <p:cNvSpPr>
            <a:spLocks noGrp="1"/>
          </p:cNvSpPr>
          <p:nvPr>
            <p:ph type="ctrTitle"/>
          </p:nvPr>
        </p:nvSpPr>
        <p:spPr>
          <a:xfrm>
            <a:off x="431172" y="3425399"/>
            <a:ext cx="7685140" cy="2621154"/>
          </a:xfrm>
        </p:spPr>
        <p:txBody>
          <a:bodyPr anchor="b">
            <a:normAutofit fontScale="90000"/>
          </a:bodyPr>
          <a:lstStyle/>
          <a:p>
            <a:r>
              <a:rPr lang="en-US" sz="6100" dirty="0"/>
              <a:t>M365 </a:t>
            </a:r>
            <a:r>
              <a:rPr lang="en-US" sz="6100" dirty="0" err="1"/>
              <a:t>Copilotを活用したエージェント開発の活動報告</a:t>
            </a:r>
            <a:br>
              <a:rPr lang="en-US" sz="6100" dirty="0"/>
            </a:br>
            <a:r>
              <a:rPr lang="en-US" sz="6100" dirty="0"/>
              <a:t>2026/12/26</a:t>
            </a:r>
          </a:p>
        </p:txBody>
      </p:sp>
      <p:sp>
        <p:nvSpPr>
          <p:cNvPr id="3" name="Subtitle 2">
            <a:extLst>
              <a:ext uri="{FF2B5EF4-FFF2-40B4-BE49-F238E27FC236}">
                <a16:creationId xmlns:a16="http://schemas.microsoft.com/office/drawing/2014/main" id="{A78568FB-C779-D759-9A3B-98635CDC9A20}"/>
              </a:ext>
            </a:extLst>
          </p:cNvPr>
          <p:cNvSpPr>
            <a:spLocks noGrp="1"/>
          </p:cNvSpPr>
          <p:nvPr>
            <p:ph type="subTitle" idx="1"/>
          </p:nvPr>
        </p:nvSpPr>
        <p:spPr>
          <a:xfrm>
            <a:off x="431172" y="415057"/>
            <a:ext cx="7685139" cy="1414091"/>
          </a:xfrm>
        </p:spPr>
        <p:txBody>
          <a:bodyPr>
            <a:normAutofit/>
          </a:bodyPr>
          <a:lstStyle/>
          <a:p>
            <a:r>
              <a:rPr lang="en-US"/>
              <a:t>プロジェクトの進捗と成果を詳細に紹介します</a:t>
            </a:r>
          </a:p>
        </p:txBody>
      </p:sp>
      <p:sp>
        <p:nvSpPr>
          <p:cNvPr id="4" name="Date Placeholder 3">
            <a:extLst>
              <a:ext uri="{FF2B5EF4-FFF2-40B4-BE49-F238E27FC236}">
                <a16:creationId xmlns:a16="http://schemas.microsoft.com/office/drawing/2014/main" id="{EF75F8B9-39A1-159C-DB19-B2EDDA5DCB5A}"/>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D791A977-663B-5B41-F9A6-FB5FFE168D70}"/>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D0EC9166-2B01-399C-924D-F2486FAD6A2F}"/>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a:t>
            </a:fld>
            <a:endParaRPr lang="en-US"/>
          </a:p>
        </p:txBody>
      </p:sp>
    </p:spTree>
    <p:extLst>
      <p:ext uri="{BB962C8B-B14F-4D97-AF65-F5344CB8AC3E}">
        <p14:creationId xmlns:p14="http://schemas.microsoft.com/office/powerpoint/2010/main" val="83015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C7CA9-5B34-367E-2179-A8B3B2581145}"/>
              </a:ext>
            </a:extLst>
          </p:cNvPr>
          <p:cNvSpPr>
            <a:spLocks noGrp="1"/>
          </p:cNvSpPr>
          <p:nvPr>
            <p:ph type="title"/>
          </p:nvPr>
        </p:nvSpPr>
        <p:spPr>
          <a:xfrm>
            <a:off x="429768" y="411480"/>
            <a:ext cx="11045952" cy="1828800"/>
          </a:xfrm>
        </p:spPr>
        <p:txBody>
          <a:bodyPr anchor="t">
            <a:normAutofit/>
          </a:bodyPr>
          <a:lstStyle/>
          <a:p>
            <a:r>
              <a:rPr lang="en-US"/>
              <a:t>本日のアジェンダ</a:t>
            </a:r>
          </a:p>
        </p:txBody>
      </p:sp>
      <p:sp>
        <p:nvSpPr>
          <p:cNvPr id="3" name="Content Placeholder 2">
            <a:extLst>
              <a:ext uri="{FF2B5EF4-FFF2-40B4-BE49-F238E27FC236}">
                <a16:creationId xmlns:a16="http://schemas.microsoft.com/office/drawing/2014/main" id="{2BBEA101-B25F-9135-D939-5A461223E7D9}"/>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272784" y="2423160"/>
            <a:ext cx="5202936" cy="3858768"/>
          </a:xfrm>
        </p:spPr>
        <p:txBody>
          <a:bodyPr>
            <a:normAutofit/>
          </a:bodyPr>
          <a:lstStyle/>
          <a:p>
            <a:pPr>
              <a:buFont typeface="Arial" panose="020B0604020202020204" pitchFamily="34" charset="0"/>
              <a:buChar char="•"/>
            </a:pPr>
            <a:r>
              <a:t>成果の概要とCopilotエージェントの説明</a:t>
            </a:r>
          </a:p>
          <a:p>
            <a:pPr>
              <a:buFont typeface="Arial" panose="020B0604020202020204" pitchFamily="34" charset="0"/>
              <a:buChar char="•"/>
            </a:pPr>
            <a:r>
              <a:t>アプリ開発工程の詳細</a:t>
            </a:r>
          </a:p>
          <a:p>
            <a:pPr>
              <a:buFont typeface="Arial" panose="020B0604020202020204" pitchFamily="34" charset="0"/>
              <a:buChar char="•"/>
            </a:pPr>
            <a:r>
              <a:t>エージェントの評価と検証</a:t>
            </a:r>
          </a:p>
          <a:p>
            <a:pPr>
              <a:buFont typeface="Arial" panose="020B0604020202020204" pitchFamily="34" charset="0"/>
              <a:buChar char="•"/>
            </a:pPr>
            <a:r>
              <a:t>今後の予定と追加検証</a:t>
            </a:r>
            <a:endParaRPr lang="en-US"/>
          </a:p>
        </p:txBody>
      </p:sp>
      <p:sp>
        <p:nvSpPr>
          <p:cNvPr id="4" name="Date Placeholder 3">
            <a:extLst>
              <a:ext uri="{FF2B5EF4-FFF2-40B4-BE49-F238E27FC236}">
                <a16:creationId xmlns:a16="http://schemas.microsoft.com/office/drawing/2014/main" id="{38DFDC5B-A47D-A8F5-CB53-69AAC0B82F59}"/>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BB4B29EE-39DB-507F-E79E-63F24468DD0A}"/>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F1E2034D-16B9-88D7-D44A-81DE6A7102F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a:t>
            </a:fld>
            <a:endParaRPr lang="en-US"/>
          </a:p>
        </p:txBody>
      </p:sp>
    </p:spTree>
    <p:extLst>
      <p:ext uri="{BB962C8B-B14F-4D97-AF65-F5344CB8AC3E}">
        <p14:creationId xmlns:p14="http://schemas.microsoft.com/office/powerpoint/2010/main" val="3302793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C3038-8E6A-1F11-8C18-A27A7BCD22BE}"/>
              </a:ext>
            </a:extLst>
          </p:cNvPr>
          <p:cNvSpPr>
            <a:spLocks noGrp="1"/>
          </p:cNvSpPr>
          <p:nvPr>
            <p:ph type="title"/>
          </p:nvPr>
        </p:nvSpPr>
        <p:spPr>
          <a:xfrm>
            <a:off x="431172" y="553616"/>
            <a:ext cx="7914087" cy="4008859"/>
          </a:xfrm>
        </p:spPr>
        <p:txBody>
          <a:bodyPr anchor="t">
            <a:normAutofit/>
          </a:bodyPr>
          <a:lstStyle/>
          <a:p>
            <a:r>
              <a:rPr lang="en-US"/>
              <a:t>成果の概要とCopilotエージェントの説明</a:t>
            </a:r>
          </a:p>
        </p:txBody>
      </p:sp>
      <p:sp>
        <p:nvSpPr>
          <p:cNvPr id="11" name="Text Placeholder 2">
            <a:extLst>
              <a:ext uri="{FF2B5EF4-FFF2-40B4-BE49-F238E27FC236}">
                <a16:creationId xmlns:a16="http://schemas.microsoft.com/office/drawing/2014/main" id="{FEE10635-11C4-B2BB-0654-03BBE8EFFDDB}"/>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A8886EDC-CFB2-D427-582F-02CD06D65D9F}"/>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E25D49EA-F508-72D4-56A6-B30ED20FE06F}"/>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EDCF3C1E-2F6F-5743-6724-1C8C53FC33C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a:t>
            </a:fld>
            <a:endParaRPr lang="en-US"/>
          </a:p>
        </p:txBody>
      </p:sp>
    </p:spTree>
    <p:extLst>
      <p:ext uri="{BB962C8B-B14F-4D97-AF65-F5344CB8AC3E}">
        <p14:creationId xmlns:p14="http://schemas.microsoft.com/office/powerpoint/2010/main" val="1889115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7FAB3-06B0-45F3-33EB-4B745B48903C}"/>
              </a:ext>
            </a:extLst>
          </p:cNvPr>
          <p:cNvSpPr>
            <a:spLocks noGrp="1"/>
          </p:cNvSpPr>
          <p:nvPr>
            <p:ph type="title"/>
          </p:nvPr>
        </p:nvSpPr>
        <p:spPr>
          <a:xfrm>
            <a:off x="429768" y="603504"/>
            <a:ext cx="4480560" cy="1527048"/>
          </a:xfrm>
        </p:spPr>
        <p:txBody>
          <a:bodyPr vert="horz" lIns="91440" tIns="45720" rIns="91440" bIns="45720" rtlCol="0" anchor="b">
            <a:normAutofit/>
          </a:bodyPr>
          <a:lstStyle/>
          <a:p>
            <a:r>
              <a:rPr lang="en-US" b="0" kern="1200" cap="all" baseline="0">
                <a:latin typeface="+mj-lt"/>
                <a:ea typeface="+mj-ea"/>
                <a:cs typeface="+mj-cs"/>
              </a:rPr>
              <a:t>M365 Copilotでエージェントを作成した成果</a:t>
            </a:r>
          </a:p>
        </p:txBody>
      </p:sp>
      <p:sp>
        <p:nvSpPr>
          <p:cNvPr id="8" name="TextBox 7">
            <a:extLst>
              <a:ext uri="{FF2B5EF4-FFF2-40B4-BE49-F238E27FC236}">
                <a16:creationId xmlns:a16="http://schemas.microsoft.com/office/drawing/2014/main" id="{332EBCC9-BD85-4A38-9FC4-8FAB03E73DA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7" y="2276856"/>
            <a:ext cx="4480560" cy="4041648"/>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dirty="0"/>
              <a:t>エージェント作成</a:t>
            </a:r>
          </a:p>
          <a:p>
            <a:pPr marL="0" lvl="1" indent="0">
              <a:spcBef>
                <a:spcPts val="1000"/>
              </a:spcBef>
              <a:spcAft>
                <a:spcPts val="600"/>
              </a:spcAft>
              <a:buFont typeface="Arial" panose="020B0604020202020204" pitchFamily="34" charset="0"/>
              <a:buNone/>
            </a:pPr>
            <a:r>
              <a:rPr lang="en-US" sz="1400" dirty="0"/>
              <a:t>M365 Copilot</a:t>
            </a:r>
            <a:r>
              <a:rPr lang="ja-JP" altLang="en-US" sz="1400" dirty="0"/>
              <a:t>を活用し、短時間で高性能なエージェントを効率よく作成しました。</a:t>
            </a:r>
          </a:p>
          <a:p>
            <a:pPr marL="0" indent="0">
              <a:spcBef>
                <a:spcPts val="2500"/>
              </a:spcBef>
              <a:spcAft>
                <a:spcPts val="600"/>
              </a:spcAft>
              <a:buFont typeface="Arial" panose="020B0604020202020204" pitchFamily="34" charset="0"/>
              <a:buNone/>
            </a:pPr>
            <a:r>
              <a:rPr lang="ja-JP" altLang="en-US" sz="1400" b="1" dirty="0"/>
              <a:t>ユーザー支援の向上</a:t>
            </a:r>
          </a:p>
          <a:p>
            <a:pPr marL="0" lvl="1" indent="0">
              <a:spcBef>
                <a:spcPts val="1000"/>
              </a:spcBef>
              <a:spcAft>
                <a:spcPts val="600"/>
              </a:spcAft>
              <a:buFont typeface="Arial" panose="020B0604020202020204" pitchFamily="34" charset="0"/>
              <a:buNone/>
            </a:pPr>
            <a:r>
              <a:rPr lang="ja-JP" altLang="en-US" sz="1400" dirty="0"/>
              <a:t>作成したエージェントはユーザーの作業を支援し、利便性を大幅に向上させています。</a:t>
            </a:r>
          </a:p>
          <a:p>
            <a:pPr marL="0" indent="0">
              <a:spcBef>
                <a:spcPts val="2500"/>
              </a:spcBef>
              <a:spcAft>
                <a:spcPts val="600"/>
              </a:spcAft>
              <a:buFont typeface="Arial" panose="020B0604020202020204" pitchFamily="34" charset="0"/>
              <a:buNone/>
            </a:pPr>
            <a:r>
              <a:rPr lang="ja-JP" altLang="en-US" sz="1400" b="1" dirty="0"/>
              <a:t>実用的なタスクの自動化</a:t>
            </a:r>
          </a:p>
          <a:p>
            <a:pPr marL="0" lvl="1" indent="0">
              <a:spcBef>
                <a:spcPts val="1000"/>
              </a:spcBef>
              <a:spcAft>
                <a:spcPts val="600"/>
              </a:spcAft>
              <a:buFont typeface="Arial" panose="020B0604020202020204" pitchFamily="34" charset="0"/>
              <a:buNone/>
            </a:pPr>
            <a:r>
              <a:rPr lang="ja-JP" altLang="en-US" sz="1400" dirty="0"/>
              <a:t>エージェントは日常業務の多くの実用的なタスクを自動化し、時間を節約しています。</a:t>
            </a:r>
          </a:p>
        </p:txBody>
      </p:sp>
      <p:pic>
        <p:nvPicPr>
          <p:cNvPr id="7" name="Content Placeholder 6" descr="コンピューターを使って年次報告書を分析する男性">
            <a:extLst>
              <a:ext uri="{FF2B5EF4-FFF2-40B4-BE49-F238E27FC236}">
                <a16:creationId xmlns:a16="http://schemas.microsoft.com/office/drawing/2014/main" id="{83FFDBEF-08C2-460E-A91D-062F3CB09E80}"/>
              </a:ext>
            </a:extLst>
          </p:cNvPr>
          <p:cNvPicPr>
            <a:picLocks noGrp="1" noChangeAspect="1"/>
          </p:cNvPicPr>
          <p:nvPr>
            <p:ph type="pic" sz="quarter" idx="15"/>
          </p:nvPr>
        </p:nvPicPr>
        <p:blipFill>
          <a:blip r:embed="rId3"/>
          <a:srcRect l="13355" r="19571"/>
          <a:stretch>
            <a:fillRect/>
          </a:stretch>
        </p:blipFill>
        <p:spPr>
          <a:xfrm>
            <a:off x="5737594" y="10"/>
            <a:ext cx="6454406" cy="6399142"/>
          </a:xfrm>
        </p:spPr>
      </p:pic>
      <p:sp>
        <p:nvSpPr>
          <p:cNvPr id="4" name="Date Placeholder 3">
            <a:extLst>
              <a:ext uri="{FF2B5EF4-FFF2-40B4-BE49-F238E27FC236}">
                <a16:creationId xmlns:a16="http://schemas.microsoft.com/office/drawing/2014/main" id="{EFB73C26-E79B-A61D-0B3D-6EDE771367B0}"/>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BDB48CF0-0F1B-037A-7126-561EE06412C0}"/>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AE4C3BF4-F9D0-D5A0-52EF-5C2F01DE0C83}"/>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4</a:t>
            </a:fld>
            <a:endParaRPr lang="en-US"/>
          </a:p>
        </p:txBody>
      </p:sp>
    </p:spTree>
    <p:extLst>
      <p:ext uri="{BB962C8B-B14F-4D97-AF65-F5344CB8AC3E}">
        <p14:creationId xmlns:p14="http://schemas.microsoft.com/office/powerpoint/2010/main" val="3745181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5D5FC-DF46-8637-0CA2-534139006D43}"/>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Copilotエージェントの特徴と機能の解説</a:t>
            </a:r>
          </a:p>
        </p:txBody>
      </p:sp>
      <p:pic>
        <p:nvPicPr>
          <p:cNvPr id="7" name="Content Placeholder 6" descr="スマートシティと無線通信ネットワーク">
            <a:extLst>
              <a:ext uri="{FF2B5EF4-FFF2-40B4-BE49-F238E27FC236}">
                <a16:creationId xmlns:a16="http://schemas.microsoft.com/office/drawing/2014/main" id="{5B17D9E9-50C3-438C-916C-4D37676F5B82}"/>
              </a:ext>
            </a:extLst>
          </p:cNvPr>
          <p:cNvPicPr>
            <a:picLocks noGrp="1" noChangeAspect="1"/>
          </p:cNvPicPr>
          <p:nvPr>
            <p:ph type="pic" sz="quarter" idx="15"/>
          </p:nvPr>
        </p:nvPicPr>
        <p:blipFill>
          <a:blip r:embed="rId3"/>
          <a:srcRect l="14050" r="5274" b="1"/>
          <a:stretch>
            <a:fillRect/>
          </a:stretch>
        </p:blipFill>
        <p:spPr>
          <a:xfrm>
            <a:off x="20" y="10"/>
            <a:ext cx="7734280" cy="6399142"/>
          </a:xfrm>
        </p:spPr>
      </p:pic>
      <p:sp>
        <p:nvSpPr>
          <p:cNvPr id="8" name="TextBox 7">
            <a:extLst>
              <a:ext uri="{FF2B5EF4-FFF2-40B4-BE49-F238E27FC236}">
                <a16:creationId xmlns:a16="http://schemas.microsoft.com/office/drawing/2014/main" id="{D0878ED7-3F3B-42D8-8142-CFA8D053E4A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優れた自然言語処理</a:t>
            </a:r>
          </a:p>
          <a:p>
            <a:pPr marL="0" lvl="1" indent="0">
              <a:spcBef>
                <a:spcPts val="1000"/>
              </a:spcBef>
              <a:spcAft>
                <a:spcPts val="600"/>
              </a:spcAft>
              <a:buFont typeface="Arial" panose="020B0604020202020204" pitchFamily="34" charset="0"/>
              <a:buNone/>
            </a:pPr>
            <a:r>
              <a:rPr lang="en-US" sz="1400"/>
              <a:t>Copilot</a:t>
            </a:r>
            <a:r>
              <a:rPr lang="ja-JP" altLang="en-US" sz="1400"/>
              <a:t>エージェントは高度な自然言語処理技術を活用し、ユーザーの質問に適切で迅速な回答を実現します。</a:t>
            </a:r>
          </a:p>
          <a:p>
            <a:pPr marL="0" indent="0">
              <a:spcBef>
                <a:spcPts val="2500"/>
              </a:spcBef>
              <a:spcAft>
                <a:spcPts val="600"/>
              </a:spcAft>
              <a:buFont typeface="Arial" panose="020B0604020202020204" pitchFamily="34" charset="0"/>
              <a:buNone/>
            </a:pPr>
            <a:r>
              <a:rPr lang="en-US" sz="1400" b="1"/>
              <a:t>M365</a:t>
            </a:r>
            <a:r>
              <a:rPr lang="ja-JP" altLang="en-US" sz="1400" b="1"/>
              <a:t>アプリ連携</a:t>
            </a:r>
          </a:p>
          <a:p>
            <a:pPr marL="0" lvl="1" indent="0">
              <a:spcBef>
                <a:spcPts val="1000"/>
              </a:spcBef>
              <a:spcAft>
                <a:spcPts val="600"/>
              </a:spcAft>
              <a:buFont typeface="Arial" panose="020B0604020202020204" pitchFamily="34" charset="0"/>
              <a:buNone/>
            </a:pPr>
            <a:r>
              <a:rPr lang="ja-JP" altLang="en-US" sz="1400"/>
              <a:t>複数の</a:t>
            </a:r>
            <a:r>
              <a:rPr lang="en-US" sz="1400"/>
              <a:t>M365</a:t>
            </a:r>
            <a:r>
              <a:rPr lang="ja-JP" altLang="en-US" sz="1400"/>
              <a:t>アプリと連携し、業務効率化とタスクサポートを強力に支援します。</a:t>
            </a:r>
          </a:p>
        </p:txBody>
      </p:sp>
      <p:sp>
        <p:nvSpPr>
          <p:cNvPr id="4" name="Date Placeholder 3">
            <a:extLst>
              <a:ext uri="{FF2B5EF4-FFF2-40B4-BE49-F238E27FC236}">
                <a16:creationId xmlns:a16="http://schemas.microsoft.com/office/drawing/2014/main" id="{5A68C492-DA9B-462E-ECEC-9ADA93533E2E}"/>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7D51920F-BD61-B68F-E5CC-9C367AD1EC30}"/>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99CAB951-472F-22D3-B7DA-E4F3B5F1EC84}"/>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5</a:t>
            </a:fld>
            <a:endParaRPr lang="en-US"/>
          </a:p>
        </p:txBody>
      </p:sp>
    </p:spTree>
    <p:extLst>
      <p:ext uri="{BB962C8B-B14F-4D97-AF65-F5344CB8AC3E}">
        <p14:creationId xmlns:p14="http://schemas.microsoft.com/office/powerpoint/2010/main" val="20635708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936C-543E-C21B-2EA8-381980DBDA0B}"/>
              </a:ext>
            </a:extLst>
          </p:cNvPr>
          <p:cNvSpPr>
            <a:spLocks noGrp="1"/>
          </p:cNvSpPr>
          <p:nvPr>
            <p:ph type="title"/>
          </p:nvPr>
        </p:nvSpPr>
        <p:spPr>
          <a:xfrm>
            <a:off x="431172" y="553616"/>
            <a:ext cx="7914087" cy="4008859"/>
          </a:xfrm>
        </p:spPr>
        <p:txBody>
          <a:bodyPr anchor="t">
            <a:normAutofit/>
          </a:bodyPr>
          <a:lstStyle/>
          <a:p>
            <a:r>
              <a:rPr lang="en-US"/>
              <a:t>アプリ開発工程の詳細</a:t>
            </a:r>
          </a:p>
        </p:txBody>
      </p:sp>
      <p:sp>
        <p:nvSpPr>
          <p:cNvPr id="11" name="Text Placeholder 2">
            <a:extLst>
              <a:ext uri="{FF2B5EF4-FFF2-40B4-BE49-F238E27FC236}">
                <a16:creationId xmlns:a16="http://schemas.microsoft.com/office/drawing/2014/main" id="{F8762005-5065-BEC3-53BE-8A43FEE0DACB}"/>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871B7DA0-41BB-3BE1-CDCD-2B210F5B330D}"/>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2B3B861F-1EBC-D0CA-88F0-0812863830D0}"/>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C97746AA-2B7A-DC16-670D-64A9BAC20EF1}"/>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6</a:t>
            </a:fld>
            <a:endParaRPr lang="en-US"/>
          </a:p>
        </p:txBody>
      </p:sp>
    </p:spTree>
    <p:extLst>
      <p:ext uri="{BB962C8B-B14F-4D97-AF65-F5344CB8AC3E}">
        <p14:creationId xmlns:p14="http://schemas.microsoft.com/office/powerpoint/2010/main" val="4669187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9CAFF-45C2-3CA8-C726-C55A9C4E118B}"/>
              </a:ext>
            </a:extLst>
          </p:cNvPr>
          <p:cNvSpPr>
            <a:spLocks noGrp="1"/>
          </p:cNvSpPr>
          <p:nvPr>
            <p:ph type="title"/>
          </p:nvPr>
        </p:nvSpPr>
        <p:spPr>
          <a:xfrm>
            <a:off x="431173" y="285210"/>
            <a:ext cx="10653578" cy="965101"/>
          </a:xfrm>
        </p:spPr>
        <p:txBody>
          <a:bodyPr anchor="ctr">
            <a:normAutofit/>
          </a:bodyPr>
          <a:lstStyle/>
          <a:p>
            <a:r>
              <a:rPr lang="en-US"/>
              <a:t>Kiroを利用したアプリ作成の流れ</a:t>
            </a:r>
          </a:p>
        </p:txBody>
      </p:sp>
      <p:sp>
        <p:nvSpPr>
          <p:cNvPr id="8" name="TextBox 7">
            <a:extLst>
              <a:ext uri="{FF2B5EF4-FFF2-40B4-BE49-F238E27FC236}">
                <a16:creationId xmlns:a16="http://schemas.microsoft.com/office/drawing/2014/main" id="{6AC09AF7-4866-4ADF-ADB7-0D55490179D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53211" y="1440811"/>
            <a:ext cx="5231539" cy="4849152"/>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要件定義の重要性</a:t>
            </a:r>
          </a:p>
          <a:p>
            <a:pPr marL="0" lvl="1" indent="0">
              <a:spcBef>
                <a:spcPts val="1000"/>
              </a:spcBef>
              <a:spcAft>
                <a:spcPts val="600"/>
              </a:spcAft>
              <a:buFont typeface="Arial" panose="020B0604020202020204" pitchFamily="34" charset="0"/>
              <a:buNone/>
            </a:pPr>
            <a:r>
              <a:rPr lang="ja-JP" altLang="en-US" sz="1400"/>
              <a:t>明確な要件定義により、プロジェクト全体の方向性が確立されます。</a:t>
            </a:r>
            <a:r>
              <a:rPr lang="en-US" sz="1400"/>
              <a:t>Kiro</a:t>
            </a:r>
            <a:r>
              <a:rPr lang="ja-JP" altLang="en-US" sz="1400"/>
              <a:t>はこの段階を効率化します。</a:t>
            </a:r>
          </a:p>
          <a:p>
            <a:pPr marL="0" indent="0">
              <a:spcBef>
                <a:spcPts val="2500"/>
              </a:spcBef>
              <a:spcAft>
                <a:spcPts val="600"/>
              </a:spcAft>
              <a:buFont typeface="Arial" panose="020B0604020202020204" pitchFamily="34" charset="0"/>
              <a:buNone/>
            </a:pPr>
            <a:r>
              <a:rPr lang="ja-JP" altLang="en-US" sz="1400" b="1"/>
              <a:t>設計と実装の効率化</a:t>
            </a:r>
          </a:p>
          <a:p>
            <a:pPr marL="0" lvl="1" indent="0">
              <a:spcBef>
                <a:spcPts val="1000"/>
              </a:spcBef>
              <a:spcAft>
                <a:spcPts val="600"/>
              </a:spcAft>
              <a:buFont typeface="Arial" panose="020B0604020202020204" pitchFamily="34" charset="0"/>
              <a:buNone/>
            </a:pPr>
            <a:r>
              <a:rPr lang="en-US" sz="1400"/>
              <a:t>Kiro</a:t>
            </a:r>
            <a:r>
              <a:rPr lang="ja-JP" altLang="en-US" sz="1400"/>
              <a:t>は設計から実装までのプロセスをスムーズに統合し、開発時間を短縮します。</a:t>
            </a:r>
          </a:p>
          <a:p>
            <a:pPr marL="0" indent="0">
              <a:spcBef>
                <a:spcPts val="2500"/>
              </a:spcBef>
              <a:spcAft>
                <a:spcPts val="600"/>
              </a:spcAft>
              <a:buFont typeface="Arial" panose="020B0604020202020204" pitchFamily="34" charset="0"/>
              <a:buNone/>
            </a:pPr>
            <a:r>
              <a:rPr lang="ja-JP" altLang="en-US" sz="1400" b="1"/>
              <a:t>テストと品質保証</a:t>
            </a:r>
          </a:p>
          <a:p>
            <a:pPr marL="0" lvl="1" indent="0">
              <a:spcBef>
                <a:spcPts val="1000"/>
              </a:spcBef>
              <a:spcAft>
                <a:spcPts val="600"/>
              </a:spcAft>
              <a:buFont typeface="Arial" panose="020B0604020202020204" pitchFamily="34" charset="0"/>
              <a:buNone/>
            </a:pPr>
            <a:r>
              <a:rPr lang="ja-JP" altLang="en-US" sz="1400"/>
              <a:t>テストフェーズによりバグを早期に発見し、品質の高いアプリを実現します。</a:t>
            </a:r>
            <a:r>
              <a:rPr lang="en-US" sz="1400"/>
              <a:t>Kiro</a:t>
            </a:r>
            <a:r>
              <a:rPr lang="ja-JP" altLang="en-US" sz="1400"/>
              <a:t>はこの工程も支援します。</a:t>
            </a:r>
          </a:p>
        </p:txBody>
      </p:sp>
      <p:sp>
        <p:nvSpPr>
          <p:cNvPr id="4" name="Date Placeholder 3">
            <a:extLst>
              <a:ext uri="{FF2B5EF4-FFF2-40B4-BE49-F238E27FC236}">
                <a16:creationId xmlns:a16="http://schemas.microsoft.com/office/drawing/2014/main" id="{6E825271-3DD2-D677-DC01-0AC037A7E4F1}"/>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3D21DD8D-AC4D-2FB6-D137-63F3997AA37F}"/>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94080DC1-27C5-ABB7-D14F-3BC9CFE4C220}"/>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7</a:t>
            </a:fld>
            <a:endParaRPr lang="en-US"/>
          </a:p>
        </p:txBody>
      </p:sp>
      <p:pic>
        <p:nvPicPr>
          <p:cNvPr id="7" name="Content Placeholder 6" descr="開発、ピクトグラム、アイコン、黒板、暗い背景">
            <a:extLst>
              <a:ext uri="{FF2B5EF4-FFF2-40B4-BE49-F238E27FC236}">
                <a16:creationId xmlns:a16="http://schemas.microsoft.com/office/drawing/2014/main" id="{0E22E8C6-2562-4D14-86B6-5EC469A50A2F}"/>
              </a:ext>
            </a:extLst>
          </p:cNvPr>
          <p:cNvPicPr>
            <a:picLocks noGrp="1" noChangeAspect="1"/>
          </p:cNvPicPr>
          <p:nvPr>
            <p:ph idx="4294967295"/>
          </p:nvPr>
        </p:nvPicPr>
        <p:blipFill>
          <a:blip r:embed="rId3"/>
          <a:stretch>
            <a:fillRect/>
          </a:stretch>
        </p:blipFill>
        <p:spPr>
          <a:xfrm>
            <a:off x="431172" y="2132440"/>
            <a:ext cx="5231539" cy="3465894"/>
          </a:xfrm>
        </p:spPr>
      </p:pic>
    </p:spTree>
    <p:extLst>
      <p:ext uri="{BB962C8B-B14F-4D97-AF65-F5344CB8AC3E}">
        <p14:creationId xmlns:p14="http://schemas.microsoft.com/office/powerpoint/2010/main" val="2621799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B62D4-1F96-8806-787A-8EFD3E9FEC35}"/>
              </a:ext>
            </a:extLst>
          </p:cNvPr>
          <p:cNvSpPr>
            <a:spLocks noGrp="1"/>
          </p:cNvSpPr>
          <p:nvPr>
            <p:ph type="title"/>
          </p:nvPr>
        </p:nvSpPr>
        <p:spPr>
          <a:xfrm>
            <a:off x="8321040" y="603504"/>
            <a:ext cx="3401568" cy="1527048"/>
          </a:xfrm>
        </p:spPr>
        <p:txBody>
          <a:bodyPr vert="horz" lIns="91440" tIns="45720" rIns="91440" bIns="45720" rtlCol="0" anchor="b">
            <a:normAutofit/>
          </a:bodyPr>
          <a:lstStyle/>
          <a:p>
            <a:r>
              <a:rPr lang="en-US" b="0" kern="1200" cap="all" baseline="0">
                <a:latin typeface="+mj-lt"/>
                <a:ea typeface="+mj-ea"/>
                <a:cs typeface="+mj-cs"/>
              </a:rPr>
              <a:t>アプリの基本的な機能と説明</a:t>
            </a:r>
          </a:p>
        </p:txBody>
      </p:sp>
      <p:pic>
        <p:nvPicPr>
          <p:cNvPr id="7" name="Content Placeholder 6" descr="4K解像度">
            <a:extLst>
              <a:ext uri="{FF2B5EF4-FFF2-40B4-BE49-F238E27FC236}">
                <a16:creationId xmlns:a16="http://schemas.microsoft.com/office/drawing/2014/main" id="{5A93BE93-3A0E-4B80-89C3-2A8CDED4D432}"/>
              </a:ext>
            </a:extLst>
          </p:cNvPr>
          <p:cNvPicPr>
            <a:picLocks noGrp="1" noChangeAspect="1"/>
          </p:cNvPicPr>
          <p:nvPr>
            <p:ph type="pic" sz="quarter" idx="15"/>
          </p:nvPr>
        </p:nvPicPr>
        <p:blipFill>
          <a:blip r:embed="rId3"/>
          <a:srcRect l="16575" r="15439" b="1"/>
          <a:stretch>
            <a:fillRect/>
          </a:stretch>
        </p:blipFill>
        <p:spPr>
          <a:xfrm>
            <a:off x="20" y="10"/>
            <a:ext cx="7734280" cy="6399142"/>
          </a:xfrm>
        </p:spPr>
      </p:pic>
      <p:sp>
        <p:nvSpPr>
          <p:cNvPr id="8" name="TextBox 7">
            <a:extLst>
              <a:ext uri="{FF2B5EF4-FFF2-40B4-BE49-F238E27FC236}">
                <a16:creationId xmlns:a16="http://schemas.microsoft.com/office/drawing/2014/main" id="{3505EDA2-2A78-4C71-9C4C-37C6950D43F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21040" y="2276856"/>
            <a:ext cx="3401568" cy="4041648"/>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直感的なユーザーインターフェース</a:t>
            </a:r>
          </a:p>
          <a:p>
            <a:pPr marL="0" lvl="1" indent="0">
              <a:spcBef>
                <a:spcPts val="1000"/>
              </a:spcBef>
              <a:spcAft>
                <a:spcPts val="600"/>
              </a:spcAft>
              <a:buFont typeface="Arial" panose="020B0604020202020204" pitchFamily="34" charset="0"/>
              <a:buNone/>
            </a:pPr>
            <a:r>
              <a:rPr lang="ja-JP" altLang="en-US" sz="1400"/>
              <a:t>アプリは使いやすいデザインで、ユーザーが簡単に操作できます。</a:t>
            </a:r>
          </a:p>
          <a:p>
            <a:pPr marL="0" indent="0">
              <a:spcBef>
                <a:spcPts val="2500"/>
              </a:spcBef>
              <a:spcAft>
                <a:spcPts val="600"/>
              </a:spcAft>
              <a:buFont typeface="Arial" panose="020B0604020202020204" pitchFamily="34" charset="0"/>
              <a:buNone/>
            </a:pPr>
            <a:r>
              <a:rPr lang="ja-JP" altLang="en-US" sz="1400" b="1"/>
              <a:t>自動応答エージェント</a:t>
            </a:r>
          </a:p>
          <a:p>
            <a:pPr marL="0" lvl="1" indent="0">
              <a:spcBef>
                <a:spcPts val="1000"/>
              </a:spcBef>
              <a:spcAft>
                <a:spcPts val="600"/>
              </a:spcAft>
              <a:buFont typeface="Arial" panose="020B0604020202020204" pitchFamily="34" charset="0"/>
              <a:buNone/>
            </a:pPr>
            <a:r>
              <a:rPr lang="ja-JP" altLang="en-US" sz="1400"/>
              <a:t>エージェントが自動的に応答し、ユーザーのタスクを効率的に支援します。</a:t>
            </a:r>
          </a:p>
          <a:p>
            <a:pPr marL="0" indent="0">
              <a:spcBef>
                <a:spcPts val="2500"/>
              </a:spcBef>
              <a:spcAft>
                <a:spcPts val="600"/>
              </a:spcAft>
              <a:buFont typeface="Arial" panose="020B0604020202020204" pitchFamily="34" charset="0"/>
              <a:buNone/>
            </a:pPr>
            <a:r>
              <a:rPr lang="ja-JP" altLang="en-US" sz="1400" b="1"/>
              <a:t>統合されたタスク管理</a:t>
            </a:r>
          </a:p>
          <a:p>
            <a:pPr marL="0" lvl="1" indent="0">
              <a:spcBef>
                <a:spcPts val="1000"/>
              </a:spcBef>
              <a:spcAft>
                <a:spcPts val="600"/>
              </a:spcAft>
              <a:buFont typeface="Arial" panose="020B0604020202020204" pitchFamily="34" charset="0"/>
              <a:buNone/>
            </a:pPr>
            <a:r>
              <a:rPr lang="ja-JP" altLang="en-US" sz="1400"/>
              <a:t>複数の機能が統合され、業務の効率化を促進します。</a:t>
            </a:r>
          </a:p>
        </p:txBody>
      </p:sp>
      <p:sp>
        <p:nvSpPr>
          <p:cNvPr id="4" name="Date Placeholder 3">
            <a:extLst>
              <a:ext uri="{FF2B5EF4-FFF2-40B4-BE49-F238E27FC236}">
                <a16:creationId xmlns:a16="http://schemas.microsoft.com/office/drawing/2014/main" id="{7DD096BE-7E88-1250-4041-2D74AF0EDBA2}"/>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5DAC48C0-F813-9047-5F77-E304795C5919}"/>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3019FF88-8370-871B-00AE-16A2C8AB8FF2}"/>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8</a:t>
            </a:fld>
            <a:endParaRPr lang="en-US"/>
          </a:p>
        </p:txBody>
      </p:sp>
    </p:spTree>
    <p:extLst>
      <p:ext uri="{BB962C8B-B14F-4D97-AF65-F5344CB8AC3E}">
        <p14:creationId xmlns:p14="http://schemas.microsoft.com/office/powerpoint/2010/main" val="1794259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2BD3D-6950-BD98-069B-6D23B90CB167}"/>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Copilotエージェントの組み込み方法</a:t>
            </a:r>
          </a:p>
        </p:txBody>
      </p:sp>
      <p:pic>
        <p:nvPicPr>
          <p:cNvPr id="7" name="Content Placeholder 6" descr="抽象的なネットワークとセキュリティ最適化の概念、インターネット技術を示すデジタルコンセプト">
            <a:extLst>
              <a:ext uri="{FF2B5EF4-FFF2-40B4-BE49-F238E27FC236}">
                <a16:creationId xmlns:a16="http://schemas.microsoft.com/office/drawing/2014/main" id="{DAB8DCBE-4B87-4F6F-90B5-DF5FD5B8479F}"/>
              </a:ext>
            </a:extLst>
          </p:cNvPr>
          <p:cNvPicPr>
            <a:picLocks noGrp="1" noChangeAspect="1"/>
          </p:cNvPicPr>
          <p:nvPr>
            <p:ph type="pic" sz="quarter" idx="15"/>
          </p:nvPr>
        </p:nvPicPr>
        <p:blipFill>
          <a:blip r:embed="rId3"/>
          <a:srcRect l="8323" r="13115"/>
          <a:stretch>
            <a:fillRect/>
          </a:stretch>
        </p:blipFill>
        <p:spPr>
          <a:xfrm>
            <a:off x="20" y="10"/>
            <a:ext cx="7734280" cy="6399142"/>
          </a:xfrm>
        </p:spPr>
      </p:pic>
      <p:sp>
        <p:nvSpPr>
          <p:cNvPr id="8" name="TextBox 7">
            <a:extLst>
              <a:ext uri="{FF2B5EF4-FFF2-40B4-BE49-F238E27FC236}">
                <a16:creationId xmlns:a16="http://schemas.microsoft.com/office/drawing/2014/main" id="{03FBE3C4-C14E-4803-ADE1-62E7EF80EAE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000" b="1"/>
              <a:t>API</a:t>
            </a:r>
            <a:r>
              <a:rPr lang="ja-JP" altLang="en-US" sz="1000" b="1"/>
              <a:t>連携の活用</a:t>
            </a:r>
          </a:p>
          <a:p>
            <a:pPr marL="0" lvl="1" indent="0">
              <a:lnSpc>
                <a:spcPct val="90000"/>
              </a:lnSpc>
              <a:spcBef>
                <a:spcPts val="1000"/>
              </a:spcBef>
              <a:spcAft>
                <a:spcPts val="600"/>
              </a:spcAft>
              <a:buFont typeface="Arial" panose="020B0604020202020204" pitchFamily="34" charset="0"/>
              <a:buNone/>
            </a:pPr>
            <a:r>
              <a:rPr lang="en-US" sz="1000"/>
              <a:t>Copilot</a:t>
            </a:r>
            <a:r>
              <a:rPr lang="ja-JP" altLang="en-US" sz="1000"/>
              <a:t>エージェントは</a:t>
            </a:r>
            <a:r>
              <a:rPr lang="en-US" sz="1000"/>
              <a:t>API</a:t>
            </a:r>
            <a:r>
              <a:rPr lang="ja-JP" altLang="en-US" sz="1000"/>
              <a:t>を通じてアプリに統合され、効率的かつスムーズな動作を可能にしました。</a:t>
            </a:r>
          </a:p>
          <a:p>
            <a:pPr marL="0" indent="0">
              <a:lnSpc>
                <a:spcPct val="90000"/>
              </a:lnSpc>
              <a:spcBef>
                <a:spcPts val="2500"/>
              </a:spcBef>
              <a:spcAft>
                <a:spcPts val="600"/>
              </a:spcAft>
              <a:buFont typeface="Arial" panose="020B0604020202020204" pitchFamily="34" charset="0"/>
              <a:buNone/>
            </a:pPr>
            <a:r>
              <a:rPr lang="ja-JP" altLang="en-US" sz="1000" b="1"/>
              <a:t>通信方式の工夫</a:t>
            </a:r>
          </a:p>
          <a:p>
            <a:pPr marL="0" lvl="1" indent="0">
              <a:lnSpc>
                <a:spcPct val="90000"/>
              </a:lnSpc>
              <a:spcBef>
                <a:spcPts val="1000"/>
              </a:spcBef>
              <a:spcAft>
                <a:spcPts val="600"/>
              </a:spcAft>
              <a:buFont typeface="Arial" panose="020B0604020202020204" pitchFamily="34" charset="0"/>
              <a:buNone/>
            </a:pPr>
            <a:r>
              <a:rPr lang="ja-JP" altLang="en-US" sz="1000"/>
              <a:t>エージェントとアプリ間の通信方式に工夫を凝らし、安定したデータ交換を実現しています。</a:t>
            </a:r>
          </a:p>
          <a:p>
            <a:pPr marL="0" indent="0">
              <a:lnSpc>
                <a:spcPct val="90000"/>
              </a:lnSpc>
              <a:spcBef>
                <a:spcPts val="2500"/>
              </a:spcBef>
              <a:spcAft>
                <a:spcPts val="600"/>
              </a:spcAft>
              <a:buFont typeface="Arial" panose="020B0604020202020204" pitchFamily="34" charset="0"/>
              <a:buNone/>
            </a:pPr>
            <a:r>
              <a:rPr lang="ja-JP" altLang="en-US" sz="1000" b="1"/>
              <a:t>認証方法の最適化</a:t>
            </a:r>
          </a:p>
          <a:p>
            <a:pPr marL="0" lvl="1" indent="0">
              <a:lnSpc>
                <a:spcPct val="90000"/>
              </a:lnSpc>
              <a:spcBef>
                <a:spcPts val="1000"/>
              </a:spcBef>
              <a:spcAft>
                <a:spcPts val="600"/>
              </a:spcAft>
              <a:buFont typeface="Arial" panose="020B0604020202020204" pitchFamily="34" charset="0"/>
              <a:buNone/>
            </a:pPr>
            <a:r>
              <a:rPr lang="ja-JP" altLang="en-US" sz="1000"/>
              <a:t>セキュアな認証方式を採用し、不正アクセスを防ぐ仕組みを取り入れています。</a:t>
            </a:r>
          </a:p>
        </p:txBody>
      </p:sp>
      <p:sp>
        <p:nvSpPr>
          <p:cNvPr id="4" name="Date Placeholder 3">
            <a:extLst>
              <a:ext uri="{FF2B5EF4-FFF2-40B4-BE49-F238E27FC236}">
                <a16:creationId xmlns:a16="http://schemas.microsoft.com/office/drawing/2014/main" id="{A8269C25-412D-D252-D5B4-4F8756E00235}"/>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62A20CA9-BECD-E733-FD0B-710C65FAE8EE}"/>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5586D5E1-0D84-5343-EC4A-730AC6273A5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9</a:t>
            </a:fld>
            <a:endParaRPr lang="en-US"/>
          </a:p>
        </p:txBody>
      </p:sp>
    </p:spTree>
    <p:extLst>
      <p:ext uri="{BB962C8B-B14F-4D97-AF65-F5344CB8AC3E}">
        <p14:creationId xmlns:p14="http://schemas.microsoft.com/office/powerpoint/2010/main" val="20634002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80AC-8813-972F-8FE9-64E1200035A2}"/>
              </a:ext>
            </a:extLst>
          </p:cNvPr>
          <p:cNvSpPr>
            <a:spLocks noGrp="1"/>
          </p:cNvSpPr>
          <p:nvPr>
            <p:ph type="title"/>
          </p:nvPr>
        </p:nvSpPr>
        <p:spPr>
          <a:xfrm>
            <a:off x="431172" y="553616"/>
            <a:ext cx="7914087" cy="4008859"/>
          </a:xfrm>
        </p:spPr>
        <p:txBody>
          <a:bodyPr anchor="t">
            <a:normAutofit/>
          </a:bodyPr>
          <a:lstStyle/>
          <a:p>
            <a:r>
              <a:rPr lang="en-US"/>
              <a:t>エージェントの評価と検証</a:t>
            </a:r>
          </a:p>
        </p:txBody>
      </p:sp>
      <p:sp>
        <p:nvSpPr>
          <p:cNvPr id="11" name="Text Placeholder 2">
            <a:extLst>
              <a:ext uri="{FF2B5EF4-FFF2-40B4-BE49-F238E27FC236}">
                <a16:creationId xmlns:a16="http://schemas.microsoft.com/office/drawing/2014/main" id="{E5692D11-7187-09FE-7FDB-F84E57392770}"/>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F9E349E0-263B-D69F-E4C0-375388FBB684}"/>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AAFEF76F-CF92-1140-0A6C-DE0C1A2DC3B6}"/>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85B78FB6-6B14-9B58-E36E-20F35A34E7A7}"/>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10</a:t>
            </a:fld>
            <a:endParaRPr lang="en-US"/>
          </a:p>
        </p:txBody>
      </p:sp>
    </p:spTree>
    <p:extLst>
      <p:ext uri="{BB962C8B-B14F-4D97-AF65-F5344CB8AC3E}">
        <p14:creationId xmlns:p14="http://schemas.microsoft.com/office/powerpoint/2010/main" val="3092561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69E3A-68D1-0ABA-7003-F75A2E2285AF}"/>
              </a:ext>
            </a:extLst>
          </p:cNvPr>
          <p:cNvSpPr>
            <a:spLocks noGrp="1"/>
          </p:cNvSpPr>
          <p:nvPr>
            <p:ph type="title"/>
          </p:nvPr>
        </p:nvSpPr>
        <p:spPr>
          <a:xfrm>
            <a:off x="429768" y="320040"/>
            <a:ext cx="6858000" cy="932688"/>
          </a:xfrm>
        </p:spPr>
        <p:txBody>
          <a:bodyPr vert="horz" lIns="91440" tIns="45720" rIns="91440" bIns="45720" rtlCol="0" anchor="b">
            <a:normAutofit/>
          </a:bodyPr>
          <a:lstStyle/>
          <a:p>
            <a:r>
              <a:rPr lang="en-US" b="0" kern="1200" cap="all" baseline="0">
                <a:latin typeface="+mj-lt"/>
                <a:ea typeface="+mj-ea"/>
                <a:cs typeface="+mj-cs"/>
              </a:rPr>
              <a:t>エージェント評価の観点と手順</a:t>
            </a:r>
          </a:p>
        </p:txBody>
      </p:sp>
      <p:sp>
        <p:nvSpPr>
          <p:cNvPr id="8" name="TextBox 7">
            <a:extLst>
              <a:ext uri="{FF2B5EF4-FFF2-40B4-BE49-F238E27FC236}">
                <a16:creationId xmlns:a16="http://schemas.microsoft.com/office/drawing/2014/main" id="{606386DB-F3A5-40DB-AF79-466DD7F21CC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応答精度の評価</a:t>
            </a:r>
          </a:p>
          <a:p>
            <a:pPr marL="0" lvl="1" indent="0">
              <a:spcBef>
                <a:spcPts val="1000"/>
              </a:spcBef>
              <a:spcAft>
                <a:spcPts val="600"/>
              </a:spcAft>
              <a:buFont typeface="Arial" panose="020B0604020202020204" pitchFamily="34" charset="0"/>
              <a:buNone/>
            </a:pPr>
            <a:r>
              <a:rPr lang="ja-JP" altLang="en-US" sz="1400"/>
              <a:t>エージェントの応答精度は、テストケースに基づき正確性を重視して評価されます。</a:t>
            </a:r>
          </a:p>
          <a:p>
            <a:pPr marL="0" indent="0">
              <a:spcBef>
                <a:spcPts val="2500"/>
              </a:spcBef>
              <a:spcAft>
                <a:spcPts val="600"/>
              </a:spcAft>
              <a:buFont typeface="Arial" panose="020B0604020202020204" pitchFamily="34" charset="0"/>
              <a:buNone/>
            </a:pPr>
            <a:r>
              <a:rPr lang="ja-JP" altLang="en-US" sz="1400" b="1"/>
              <a:t>処理速度の検証</a:t>
            </a:r>
          </a:p>
          <a:p>
            <a:pPr marL="0" lvl="1" indent="0">
              <a:spcBef>
                <a:spcPts val="1000"/>
              </a:spcBef>
              <a:spcAft>
                <a:spcPts val="600"/>
              </a:spcAft>
              <a:buFont typeface="Arial" panose="020B0604020202020204" pitchFamily="34" charset="0"/>
              <a:buNone/>
            </a:pPr>
            <a:r>
              <a:rPr lang="ja-JP" altLang="en-US" sz="1400"/>
              <a:t>エージェントの処理速度は効率性を図るために詳細に測定されます。</a:t>
            </a:r>
          </a:p>
          <a:p>
            <a:pPr marL="0" indent="0">
              <a:spcBef>
                <a:spcPts val="2500"/>
              </a:spcBef>
              <a:spcAft>
                <a:spcPts val="600"/>
              </a:spcAft>
              <a:buFont typeface="Arial" panose="020B0604020202020204" pitchFamily="34" charset="0"/>
              <a:buNone/>
            </a:pPr>
            <a:r>
              <a:rPr lang="ja-JP" altLang="en-US" sz="1400" b="1"/>
              <a:t>ユーザビリティの評価</a:t>
            </a:r>
          </a:p>
          <a:p>
            <a:pPr marL="0" lvl="1" indent="0">
              <a:spcBef>
                <a:spcPts val="1000"/>
              </a:spcBef>
              <a:spcAft>
                <a:spcPts val="600"/>
              </a:spcAft>
              <a:buFont typeface="Arial" panose="020B0604020202020204" pitchFamily="34" charset="0"/>
              <a:buNone/>
            </a:pPr>
            <a:r>
              <a:rPr lang="ja-JP" altLang="en-US" sz="1400"/>
              <a:t>ユーザビリティは使いやすさを重視し、実際の利用者視点で評価されます。</a:t>
            </a:r>
          </a:p>
          <a:p>
            <a:pPr marL="0" indent="0">
              <a:spcBef>
                <a:spcPts val="2500"/>
              </a:spcBef>
              <a:spcAft>
                <a:spcPts val="600"/>
              </a:spcAft>
              <a:buFont typeface="Arial" panose="020B0604020202020204" pitchFamily="34" charset="0"/>
              <a:buNone/>
            </a:pPr>
            <a:r>
              <a:rPr lang="ja-JP" altLang="en-US" sz="1400" b="1"/>
              <a:t>体系的評価手順</a:t>
            </a:r>
          </a:p>
          <a:p>
            <a:pPr marL="0" lvl="1" indent="0">
              <a:spcBef>
                <a:spcPts val="1000"/>
              </a:spcBef>
              <a:spcAft>
                <a:spcPts val="600"/>
              </a:spcAft>
              <a:buFont typeface="Arial" panose="020B0604020202020204" pitchFamily="34" charset="0"/>
              <a:buNone/>
            </a:pPr>
            <a:r>
              <a:rPr lang="ja-JP" altLang="en-US" sz="1400"/>
              <a:t>評価手順は体系的に整備され、信頼性の高い検証を支えています。</a:t>
            </a:r>
          </a:p>
        </p:txBody>
      </p:sp>
      <p:pic>
        <p:nvPicPr>
          <p:cNvPr id="7" name="Content Placeholder 6" descr="3Dイラストレーション">
            <a:extLst>
              <a:ext uri="{FF2B5EF4-FFF2-40B4-BE49-F238E27FC236}">
                <a16:creationId xmlns:a16="http://schemas.microsoft.com/office/drawing/2014/main" id="{55D199C4-37B2-4CCC-ACEE-9EB0EF8C12AD}"/>
              </a:ext>
            </a:extLst>
          </p:cNvPr>
          <p:cNvPicPr>
            <a:picLocks noGrp="1" noChangeAspect="1"/>
          </p:cNvPicPr>
          <p:nvPr>
            <p:ph type="pic" sz="quarter" idx="15"/>
          </p:nvPr>
        </p:nvPicPr>
        <p:blipFill>
          <a:blip r:embed="rId3"/>
          <a:srcRect l="10504" r="24719" b="1"/>
          <a:stretch>
            <a:fillRect/>
          </a:stretch>
        </p:blipFill>
        <p:spPr>
          <a:xfrm>
            <a:off x="8046768" y="10"/>
            <a:ext cx="4145232" cy="6399142"/>
          </a:xfrm>
        </p:spPr>
      </p:pic>
      <p:sp>
        <p:nvSpPr>
          <p:cNvPr id="4" name="Date Placeholder 3">
            <a:extLst>
              <a:ext uri="{FF2B5EF4-FFF2-40B4-BE49-F238E27FC236}">
                <a16:creationId xmlns:a16="http://schemas.microsoft.com/office/drawing/2014/main" id="{68A6503C-B2D0-887A-0BF5-7A28105E1121}"/>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C9AEB580-7EE5-DF49-3B1A-C834EA1B017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effectLst/>
                <a:latin typeface="+mn-lt"/>
                <a:ea typeface="+mn-ea"/>
                <a:cs typeface="+mn-cs"/>
              </a:rPr>
              <a:t>Sample Footer Text</a:t>
            </a:r>
          </a:p>
        </p:txBody>
      </p:sp>
      <p:sp>
        <p:nvSpPr>
          <p:cNvPr id="6" name="Slide Number Placeholder 5">
            <a:extLst>
              <a:ext uri="{FF2B5EF4-FFF2-40B4-BE49-F238E27FC236}">
                <a16:creationId xmlns:a16="http://schemas.microsoft.com/office/drawing/2014/main" id="{4ACC67EE-F6F5-FA58-91DC-FBF34CAA112C}"/>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11</a:t>
            </a:fld>
            <a:endParaRPr lang="en-US"/>
          </a:p>
        </p:txBody>
      </p:sp>
    </p:spTree>
    <p:extLst>
      <p:ext uri="{BB962C8B-B14F-4D97-AF65-F5344CB8AC3E}">
        <p14:creationId xmlns:p14="http://schemas.microsoft.com/office/powerpoint/2010/main" val="8579343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FA3FE-1C7F-C40F-DE32-75EAE15CDF34}"/>
              </a:ext>
            </a:extLst>
          </p:cNvPr>
          <p:cNvSpPr>
            <a:spLocks noGrp="1"/>
          </p:cNvSpPr>
          <p:nvPr>
            <p:ph type="title"/>
          </p:nvPr>
        </p:nvSpPr>
        <p:spPr>
          <a:xfrm>
            <a:off x="8321040" y="603504"/>
            <a:ext cx="3401568" cy="1527048"/>
          </a:xfrm>
        </p:spPr>
        <p:txBody>
          <a:bodyPr vert="horz" lIns="91440" tIns="45720" rIns="91440" bIns="45720" rtlCol="0" anchor="b">
            <a:normAutofit/>
          </a:bodyPr>
          <a:lstStyle/>
          <a:p>
            <a:r>
              <a:rPr lang="en-US" b="0" kern="1200" cap="all" baseline="0">
                <a:latin typeface="+mj-lt"/>
                <a:ea typeface="+mj-ea"/>
                <a:cs typeface="+mj-cs"/>
              </a:rPr>
              <a:t>アプリ内でのエージェント動作の検証</a:t>
            </a:r>
          </a:p>
        </p:txBody>
      </p:sp>
      <p:pic>
        <p:nvPicPr>
          <p:cNvPr id="7" name="Content Placeholder 6" descr="プログラミングコードのイラストレーション">
            <a:extLst>
              <a:ext uri="{FF2B5EF4-FFF2-40B4-BE49-F238E27FC236}">
                <a16:creationId xmlns:a16="http://schemas.microsoft.com/office/drawing/2014/main" id="{596399CF-7B7A-4513-8A2A-AEEF707AB85F}"/>
              </a:ext>
            </a:extLst>
          </p:cNvPr>
          <p:cNvPicPr>
            <a:picLocks noGrp="1" noChangeAspect="1"/>
          </p:cNvPicPr>
          <p:nvPr>
            <p:ph type="pic" sz="quarter" idx="15"/>
          </p:nvPr>
        </p:nvPicPr>
        <p:blipFill>
          <a:blip r:embed="rId3"/>
          <a:srcRect l="16291" r="23277" b="1"/>
          <a:stretch>
            <a:fillRect/>
          </a:stretch>
        </p:blipFill>
        <p:spPr>
          <a:xfrm>
            <a:off x="20" y="10"/>
            <a:ext cx="7734280" cy="6399142"/>
          </a:xfrm>
        </p:spPr>
      </p:pic>
      <p:sp>
        <p:nvSpPr>
          <p:cNvPr id="8" name="TextBox 7">
            <a:extLst>
              <a:ext uri="{FF2B5EF4-FFF2-40B4-BE49-F238E27FC236}">
                <a16:creationId xmlns:a16="http://schemas.microsoft.com/office/drawing/2014/main" id="{842AC80C-CCFE-4E5B-B5DC-31A91219745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21040" y="2276856"/>
            <a:ext cx="3401568" cy="4041648"/>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動作の検証</a:t>
            </a:r>
          </a:p>
          <a:p>
            <a:pPr marL="0" lvl="1" indent="0">
              <a:spcBef>
                <a:spcPts val="1000"/>
              </a:spcBef>
              <a:spcAft>
                <a:spcPts val="600"/>
              </a:spcAft>
              <a:buFont typeface="Arial" panose="020B0604020202020204" pitchFamily="34" charset="0"/>
              <a:buNone/>
            </a:pPr>
            <a:r>
              <a:rPr lang="ja-JP" altLang="en-US" sz="1400"/>
              <a:t>エージェントが期待通りに動作するか、実際のアプリ環境で確認しました。</a:t>
            </a:r>
          </a:p>
          <a:p>
            <a:pPr marL="0" indent="0">
              <a:spcBef>
                <a:spcPts val="2500"/>
              </a:spcBef>
              <a:spcAft>
                <a:spcPts val="600"/>
              </a:spcAft>
              <a:buFont typeface="Arial" panose="020B0604020202020204" pitchFamily="34" charset="0"/>
              <a:buNone/>
            </a:pPr>
            <a:r>
              <a:rPr lang="ja-JP" altLang="en-US" sz="1400" b="1"/>
              <a:t>安定性と連携問題検出</a:t>
            </a:r>
          </a:p>
          <a:p>
            <a:pPr marL="0" lvl="1" indent="0">
              <a:spcBef>
                <a:spcPts val="1000"/>
              </a:spcBef>
              <a:spcAft>
                <a:spcPts val="600"/>
              </a:spcAft>
              <a:buFont typeface="Arial" panose="020B0604020202020204" pitchFamily="34" charset="0"/>
              <a:buNone/>
            </a:pPr>
            <a:r>
              <a:rPr lang="ja-JP" altLang="en-US" sz="1400"/>
              <a:t>動作の安定性や連携部分の問題点を詳細に検出しました。</a:t>
            </a:r>
          </a:p>
          <a:p>
            <a:pPr marL="0" indent="0">
              <a:spcBef>
                <a:spcPts val="2500"/>
              </a:spcBef>
              <a:spcAft>
                <a:spcPts val="600"/>
              </a:spcAft>
              <a:buFont typeface="Arial" panose="020B0604020202020204" pitchFamily="34" charset="0"/>
              <a:buNone/>
            </a:pPr>
            <a:r>
              <a:rPr lang="ja-JP" altLang="en-US" sz="1400" b="1"/>
              <a:t>ユーザーフィードバック収集</a:t>
            </a:r>
          </a:p>
          <a:p>
            <a:pPr marL="0" lvl="1" indent="0">
              <a:spcBef>
                <a:spcPts val="1000"/>
              </a:spcBef>
              <a:spcAft>
                <a:spcPts val="600"/>
              </a:spcAft>
              <a:buFont typeface="Arial" panose="020B0604020202020204" pitchFamily="34" charset="0"/>
              <a:buNone/>
            </a:pPr>
            <a:r>
              <a:rPr lang="ja-JP" altLang="en-US" sz="1400"/>
              <a:t>ユーザーインタラクションから貴重なフィードバックを収集し改善に活かしました。</a:t>
            </a:r>
          </a:p>
        </p:txBody>
      </p:sp>
      <p:sp>
        <p:nvSpPr>
          <p:cNvPr id="4" name="Date Placeholder 3">
            <a:extLst>
              <a:ext uri="{FF2B5EF4-FFF2-40B4-BE49-F238E27FC236}">
                <a16:creationId xmlns:a16="http://schemas.microsoft.com/office/drawing/2014/main" id="{848DFA1B-28EC-ED95-8B69-2F08F9A4EFC8}"/>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DB580095-A068-4711-18BD-7185B6075F7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D1CE1386-1EDC-2B23-1152-5CCEFA5E4031}"/>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12</a:t>
            </a:fld>
            <a:endParaRPr lang="en-US"/>
          </a:p>
        </p:txBody>
      </p:sp>
    </p:spTree>
    <p:extLst>
      <p:ext uri="{BB962C8B-B14F-4D97-AF65-F5344CB8AC3E}">
        <p14:creationId xmlns:p14="http://schemas.microsoft.com/office/powerpoint/2010/main" val="2824292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9E0C9-C1C7-1CEA-B34A-9CA9DB05AB95}"/>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初期評価結果のまとめ</a:t>
            </a:r>
          </a:p>
        </p:txBody>
      </p:sp>
      <p:pic>
        <p:nvPicPr>
          <p:cNvPr id="7" name="Content Placeholder 6" descr="営業マネージャーが快適な作業スペースに座り、売上報告を分析している">
            <a:extLst>
              <a:ext uri="{FF2B5EF4-FFF2-40B4-BE49-F238E27FC236}">
                <a16:creationId xmlns:a16="http://schemas.microsoft.com/office/drawing/2014/main" id="{81AF956A-6DCB-4630-A047-BFFF80F68927}"/>
              </a:ext>
            </a:extLst>
          </p:cNvPr>
          <p:cNvPicPr>
            <a:picLocks noGrp="1" noChangeAspect="1"/>
          </p:cNvPicPr>
          <p:nvPr>
            <p:ph type="pic" sz="quarter" idx="15"/>
          </p:nvPr>
        </p:nvPicPr>
        <p:blipFill>
          <a:blip r:embed="rId3"/>
          <a:srcRect r="19324" b="1"/>
          <a:stretch>
            <a:fillRect/>
          </a:stretch>
        </p:blipFill>
        <p:spPr>
          <a:xfrm>
            <a:off x="20" y="10"/>
            <a:ext cx="7734280" cy="6399142"/>
          </a:xfrm>
        </p:spPr>
      </p:pic>
      <p:sp>
        <p:nvSpPr>
          <p:cNvPr id="8" name="TextBox 7">
            <a:extLst>
              <a:ext uri="{FF2B5EF4-FFF2-40B4-BE49-F238E27FC236}">
                <a16:creationId xmlns:a16="http://schemas.microsoft.com/office/drawing/2014/main" id="{191A463F-5F4A-4727-8752-1B9211F9A5F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高い応答精度</a:t>
            </a:r>
          </a:p>
          <a:p>
            <a:pPr marL="0" lvl="1" indent="0">
              <a:spcBef>
                <a:spcPts val="1000"/>
              </a:spcBef>
              <a:spcAft>
                <a:spcPts val="600"/>
              </a:spcAft>
              <a:buFont typeface="Arial" panose="020B0604020202020204" pitchFamily="34" charset="0"/>
              <a:buNone/>
            </a:pPr>
            <a:r>
              <a:rPr lang="ja-JP" altLang="en-US" sz="1400"/>
              <a:t>エージェントは評価において優れた応答精度を示し、業務効率化に貢献しています。</a:t>
            </a:r>
          </a:p>
          <a:p>
            <a:pPr marL="0" indent="0">
              <a:spcBef>
                <a:spcPts val="2500"/>
              </a:spcBef>
              <a:spcAft>
                <a:spcPts val="600"/>
              </a:spcAft>
              <a:buFont typeface="Arial" panose="020B0604020202020204" pitchFamily="34" charset="0"/>
              <a:buNone/>
            </a:pPr>
            <a:r>
              <a:rPr lang="ja-JP" altLang="en-US" sz="1400" b="1"/>
              <a:t>改善の必要性</a:t>
            </a:r>
          </a:p>
          <a:p>
            <a:pPr marL="0" lvl="1" indent="0">
              <a:spcBef>
                <a:spcPts val="1000"/>
              </a:spcBef>
              <a:spcAft>
                <a:spcPts val="600"/>
              </a:spcAft>
              <a:buFont typeface="Arial" panose="020B0604020202020204" pitchFamily="34" charset="0"/>
              <a:buNone/>
            </a:pPr>
            <a:r>
              <a:rPr lang="ja-JP" altLang="en-US" sz="1400"/>
              <a:t>一部のケースで性能向上が求められ、今後の改善課題として整理されています。</a:t>
            </a:r>
          </a:p>
        </p:txBody>
      </p:sp>
      <p:sp>
        <p:nvSpPr>
          <p:cNvPr id="4" name="Date Placeholder 3">
            <a:extLst>
              <a:ext uri="{FF2B5EF4-FFF2-40B4-BE49-F238E27FC236}">
                <a16:creationId xmlns:a16="http://schemas.microsoft.com/office/drawing/2014/main" id="{F7384488-3CC4-3EE9-8DF0-DEFF9E10A7F7}"/>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00890DBB-E124-36B4-8384-C60521763376}"/>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6EAFD747-B904-B005-876D-B38410193A05}"/>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13</a:t>
            </a:fld>
            <a:endParaRPr lang="en-US"/>
          </a:p>
        </p:txBody>
      </p:sp>
    </p:spTree>
    <p:extLst>
      <p:ext uri="{BB962C8B-B14F-4D97-AF65-F5344CB8AC3E}">
        <p14:creationId xmlns:p14="http://schemas.microsoft.com/office/powerpoint/2010/main" val="16923182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DEEC-7BB6-E17B-FA23-491891D5F0F5}"/>
              </a:ext>
            </a:extLst>
          </p:cNvPr>
          <p:cNvSpPr>
            <a:spLocks noGrp="1"/>
          </p:cNvSpPr>
          <p:nvPr>
            <p:ph type="title"/>
          </p:nvPr>
        </p:nvSpPr>
        <p:spPr>
          <a:xfrm>
            <a:off x="431172" y="553616"/>
            <a:ext cx="7914087" cy="4008859"/>
          </a:xfrm>
        </p:spPr>
        <p:txBody>
          <a:bodyPr anchor="t">
            <a:normAutofit/>
          </a:bodyPr>
          <a:lstStyle/>
          <a:p>
            <a:r>
              <a:rPr lang="en-US"/>
              <a:t>今後の予定と追加検証</a:t>
            </a:r>
          </a:p>
        </p:txBody>
      </p:sp>
      <p:sp>
        <p:nvSpPr>
          <p:cNvPr id="11" name="Text Placeholder 2">
            <a:extLst>
              <a:ext uri="{FF2B5EF4-FFF2-40B4-BE49-F238E27FC236}">
                <a16:creationId xmlns:a16="http://schemas.microsoft.com/office/drawing/2014/main" id="{B45419B6-6DCE-B89D-20F3-AF9D0356E880}"/>
              </a:ext>
            </a:extLst>
          </p:cNvPr>
          <p:cNvSpPr>
            <a:spLocks noGrp="1"/>
          </p:cNvSpPr>
          <p:nvPr>
            <p:ph type="body" idx="1"/>
          </p:nvPr>
        </p:nvSpPr>
        <p:spPr>
          <a:xfrm>
            <a:off x="431172" y="5088156"/>
            <a:ext cx="7914087" cy="1166648"/>
          </a:xfrm>
        </p:spPr>
        <p:txBody>
          <a:bodyPr/>
          <a:lstStyle/>
          <a:p>
            <a:endParaRPr lang="en-US"/>
          </a:p>
        </p:txBody>
      </p:sp>
      <p:sp>
        <p:nvSpPr>
          <p:cNvPr id="4" name="Date Placeholder 3">
            <a:extLst>
              <a:ext uri="{FF2B5EF4-FFF2-40B4-BE49-F238E27FC236}">
                <a16:creationId xmlns:a16="http://schemas.microsoft.com/office/drawing/2014/main" id="{18ACF5C0-3A85-FE8C-C9F5-F0BBF9889ED2}"/>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722CBE5D-25D4-1C44-089D-2E814DC57A75}"/>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42043288-10E7-4A19-1879-D64D35E56F7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14</a:t>
            </a:fld>
            <a:endParaRPr lang="en-US"/>
          </a:p>
        </p:txBody>
      </p:sp>
    </p:spTree>
    <p:extLst>
      <p:ext uri="{BB962C8B-B14F-4D97-AF65-F5344CB8AC3E}">
        <p14:creationId xmlns:p14="http://schemas.microsoft.com/office/powerpoint/2010/main" val="20196529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103CC-FDA7-1FF8-1915-892AFE379168}"/>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アプリの動作がエージェントの回答通りかチェックする計画</a:t>
            </a:r>
          </a:p>
        </p:txBody>
      </p:sp>
      <p:pic>
        <p:nvPicPr>
          <p:cNvPr id="7" name="Content Placeholder 6" descr="携帯電話のメールメッセージ">
            <a:extLst>
              <a:ext uri="{FF2B5EF4-FFF2-40B4-BE49-F238E27FC236}">
                <a16:creationId xmlns:a16="http://schemas.microsoft.com/office/drawing/2014/main" id="{83F9A2EA-E309-4443-90E3-BE7370A9A60B}"/>
              </a:ext>
            </a:extLst>
          </p:cNvPr>
          <p:cNvPicPr>
            <a:picLocks noGrp="1" noChangeAspect="1"/>
          </p:cNvPicPr>
          <p:nvPr>
            <p:ph type="pic" sz="quarter" idx="15"/>
          </p:nvPr>
        </p:nvPicPr>
        <p:blipFill>
          <a:blip r:embed="rId3"/>
          <a:srcRect l="7833" r="11490" b="1"/>
          <a:stretch>
            <a:fillRect/>
          </a:stretch>
        </p:blipFill>
        <p:spPr>
          <a:xfrm>
            <a:off x="20" y="10"/>
            <a:ext cx="7734280" cy="6399142"/>
          </a:xfrm>
        </p:spPr>
      </p:pic>
      <p:sp>
        <p:nvSpPr>
          <p:cNvPr id="8" name="TextBox 7">
            <a:extLst>
              <a:ext uri="{FF2B5EF4-FFF2-40B4-BE49-F238E27FC236}">
                <a16:creationId xmlns:a16="http://schemas.microsoft.com/office/drawing/2014/main" id="{2AB6A99D-F07C-4B23-9115-030013E3538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動作一致の定期チェック</a:t>
            </a:r>
          </a:p>
          <a:p>
            <a:pPr marL="0" lvl="1" indent="0">
              <a:spcBef>
                <a:spcPts val="1000"/>
              </a:spcBef>
              <a:spcAft>
                <a:spcPts val="600"/>
              </a:spcAft>
              <a:buFont typeface="Arial" panose="020B0604020202020204" pitchFamily="34" charset="0"/>
              <a:buNone/>
            </a:pPr>
            <a:r>
              <a:rPr lang="ja-JP" altLang="en-US" sz="1400"/>
              <a:t>ユーザー操作とエージェント回答の整合性を定期的に検証し、問題点を特定します。</a:t>
            </a:r>
          </a:p>
          <a:p>
            <a:pPr marL="0" indent="0">
              <a:spcBef>
                <a:spcPts val="2500"/>
              </a:spcBef>
              <a:spcAft>
                <a:spcPts val="600"/>
              </a:spcAft>
              <a:buFont typeface="Arial" panose="020B0604020202020204" pitchFamily="34" charset="0"/>
              <a:buNone/>
            </a:pPr>
            <a:r>
              <a:rPr lang="ja-JP" altLang="en-US" sz="1400" b="1"/>
              <a:t>改善点の抽出</a:t>
            </a:r>
          </a:p>
          <a:p>
            <a:pPr marL="0" lvl="1" indent="0">
              <a:spcBef>
                <a:spcPts val="1000"/>
              </a:spcBef>
              <a:spcAft>
                <a:spcPts val="600"/>
              </a:spcAft>
              <a:buFont typeface="Arial" panose="020B0604020202020204" pitchFamily="34" charset="0"/>
              <a:buNone/>
            </a:pPr>
            <a:r>
              <a:rPr lang="ja-JP" altLang="en-US" sz="1400"/>
              <a:t>検証結果から改善が必要な箇所を明確にし、実用性向上に繋げます。</a:t>
            </a:r>
          </a:p>
        </p:txBody>
      </p:sp>
      <p:sp>
        <p:nvSpPr>
          <p:cNvPr id="4" name="Date Placeholder 3">
            <a:extLst>
              <a:ext uri="{FF2B5EF4-FFF2-40B4-BE49-F238E27FC236}">
                <a16:creationId xmlns:a16="http://schemas.microsoft.com/office/drawing/2014/main" id="{7EE0C8D4-F65D-5128-FD48-48F59F6F821E}"/>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FD8DA78E-ECA7-1555-68A2-8F8ADEB66AAC}"/>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DD536D9A-26C3-A7FA-0E95-96B1145C399E}"/>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15</a:t>
            </a:fld>
            <a:endParaRPr lang="en-US"/>
          </a:p>
        </p:txBody>
      </p:sp>
    </p:spTree>
    <p:extLst>
      <p:ext uri="{BB962C8B-B14F-4D97-AF65-F5344CB8AC3E}">
        <p14:creationId xmlns:p14="http://schemas.microsoft.com/office/powerpoint/2010/main" val="18409755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AC8D-4D6E-08C0-62B7-CCFFF757A076}"/>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b="0" kern="1200" cap="all" baseline="0">
                <a:latin typeface="+mj-lt"/>
                <a:ea typeface="+mj-ea"/>
                <a:cs typeface="+mj-cs"/>
              </a:rPr>
              <a:t>エージェントのデータ参照先の検証方法</a:t>
            </a:r>
          </a:p>
        </p:txBody>
      </p:sp>
      <p:pic>
        <p:nvPicPr>
          <p:cNvPr id="7" name="Content Placeholder 6" descr="チェックボックスアイコンのデジタル技術コンセプト">
            <a:extLst>
              <a:ext uri="{FF2B5EF4-FFF2-40B4-BE49-F238E27FC236}">
                <a16:creationId xmlns:a16="http://schemas.microsoft.com/office/drawing/2014/main" id="{C39F18DD-45E2-4346-9FED-0A4A2524E4EA}"/>
              </a:ext>
            </a:extLst>
          </p:cNvPr>
          <p:cNvPicPr>
            <a:picLocks noGrp="1" noChangeAspect="1"/>
          </p:cNvPicPr>
          <p:nvPr>
            <p:ph type="pic" sz="quarter" idx="15"/>
          </p:nvPr>
        </p:nvPicPr>
        <p:blipFill>
          <a:blip r:embed="rId3"/>
          <a:stretch/>
        </p:blipFill>
        <p:spPr>
          <a:xfrm>
            <a:off x="0" y="299213"/>
            <a:ext cx="7734300" cy="5800725"/>
          </a:xfrm>
        </p:spPr>
      </p:pic>
      <p:sp>
        <p:nvSpPr>
          <p:cNvPr id="8" name="TextBox 7">
            <a:extLst>
              <a:ext uri="{FF2B5EF4-FFF2-40B4-BE49-F238E27FC236}">
                <a16:creationId xmlns:a16="http://schemas.microsoft.com/office/drawing/2014/main" id="{292125C0-BD67-4257-9982-9126D5D9CCF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ja-JP" altLang="en-US" sz="1100" b="1"/>
              <a:t>データの正確性検証</a:t>
            </a:r>
          </a:p>
          <a:p>
            <a:pPr marL="0" lvl="1" indent="0">
              <a:lnSpc>
                <a:spcPct val="90000"/>
              </a:lnSpc>
              <a:spcBef>
                <a:spcPts val="1000"/>
              </a:spcBef>
              <a:spcAft>
                <a:spcPts val="600"/>
              </a:spcAft>
              <a:buFont typeface="Arial" panose="020B0604020202020204" pitchFamily="34" charset="0"/>
              <a:buNone/>
            </a:pPr>
            <a:r>
              <a:rPr lang="ja-JP" altLang="en-US" sz="1100"/>
              <a:t>参照データの信頼性を評価し、誤情報の混入を防ぐ仕組みを構築します。</a:t>
            </a:r>
          </a:p>
          <a:p>
            <a:pPr marL="0" indent="0">
              <a:lnSpc>
                <a:spcPct val="90000"/>
              </a:lnSpc>
              <a:spcBef>
                <a:spcPts val="2500"/>
              </a:spcBef>
              <a:spcAft>
                <a:spcPts val="600"/>
              </a:spcAft>
              <a:buFont typeface="Arial" panose="020B0604020202020204" pitchFamily="34" charset="0"/>
              <a:buNone/>
            </a:pPr>
            <a:r>
              <a:rPr lang="ja-JP" altLang="en-US" sz="1100" b="1"/>
              <a:t>最新性の確認</a:t>
            </a:r>
          </a:p>
          <a:p>
            <a:pPr marL="0" lvl="1" indent="0">
              <a:lnSpc>
                <a:spcPct val="90000"/>
              </a:lnSpc>
              <a:spcBef>
                <a:spcPts val="1000"/>
              </a:spcBef>
              <a:spcAft>
                <a:spcPts val="600"/>
              </a:spcAft>
              <a:buFont typeface="Arial" panose="020B0604020202020204" pitchFamily="34" charset="0"/>
              <a:buNone/>
            </a:pPr>
            <a:r>
              <a:rPr lang="ja-JP" altLang="en-US" sz="1100"/>
              <a:t>データソースの更新頻度をチェックし、常に最新情報を反映できるよう管理します。</a:t>
            </a:r>
          </a:p>
          <a:p>
            <a:pPr marL="0" indent="0">
              <a:lnSpc>
                <a:spcPct val="90000"/>
              </a:lnSpc>
              <a:spcBef>
                <a:spcPts val="2500"/>
              </a:spcBef>
              <a:spcAft>
                <a:spcPts val="600"/>
              </a:spcAft>
              <a:buFont typeface="Arial" panose="020B0604020202020204" pitchFamily="34" charset="0"/>
              <a:buNone/>
            </a:pPr>
            <a:r>
              <a:rPr lang="ja-JP" altLang="en-US" sz="1100" b="1"/>
              <a:t>信頼性の強化</a:t>
            </a:r>
          </a:p>
          <a:p>
            <a:pPr marL="0" lvl="1" indent="0">
              <a:lnSpc>
                <a:spcPct val="90000"/>
              </a:lnSpc>
              <a:spcBef>
                <a:spcPts val="1000"/>
              </a:spcBef>
              <a:spcAft>
                <a:spcPts val="600"/>
              </a:spcAft>
              <a:buFont typeface="Arial" panose="020B0604020202020204" pitchFamily="34" charset="0"/>
              <a:buNone/>
            </a:pPr>
            <a:r>
              <a:rPr lang="ja-JP" altLang="en-US" sz="1100"/>
              <a:t>信頼できる情報のみを使い、回答の質を高める仕組みを強化します。</a:t>
            </a:r>
          </a:p>
        </p:txBody>
      </p:sp>
      <p:sp>
        <p:nvSpPr>
          <p:cNvPr id="4" name="Date Placeholder 3">
            <a:extLst>
              <a:ext uri="{FF2B5EF4-FFF2-40B4-BE49-F238E27FC236}">
                <a16:creationId xmlns:a16="http://schemas.microsoft.com/office/drawing/2014/main" id="{FEFC76E7-B55A-6184-188F-1BDBA0E35CC4}"/>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490A5DDE-6FFF-A796-D92D-434445158B2C}"/>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F3A5F566-07CA-F780-8CC2-885DAB80371D}"/>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16</a:t>
            </a:fld>
            <a:endParaRPr lang="en-US"/>
          </a:p>
        </p:txBody>
      </p:sp>
    </p:spTree>
    <p:extLst>
      <p:ext uri="{BB962C8B-B14F-4D97-AF65-F5344CB8AC3E}">
        <p14:creationId xmlns:p14="http://schemas.microsoft.com/office/powerpoint/2010/main" val="2833195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D536A-4B84-531B-AA73-6CB2770FBE1E}"/>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500" b="0" kern="1200" cap="all" baseline="0">
                <a:latin typeface="+mj-lt"/>
                <a:ea typeface="+mj-ea"/>
                <a:cs typeface="+mj-cs"/>
              </a:rPr>
              <a:t>余裕があればExcelとMarkdownでの回答差分検証とAIフレンドリー形式の提案</a:t>
            </a:r>
          </a:p>
        </p:txBody>
      </p:sp>
      <p:pic>
        <p:nvPicPr>
          <p:cNvPr id="7" name="Content Placeholder 6" descr="タブレットPCおよび印刷メディアのビジネスチャート">
            <a:extLst>
              <a:ext uri="{FF2B5EF4-FFF2-40B4-BE49-F238E27FC236}">
                <a16:creationId xmlns:a16="http://schemas.microsoft.com/office/drawing/2014/main" id="{55550F01-F63A-48EA-99D9-A66F7020DF07}"/>
              </a:ext>
            </a:extLst>
          </p:cNvPr>
          <p:cNvPicPr>
            <a:picLocks noGrp="1" noChangeAspect="1"/>
          </p:cNvPicPr>
          <p:nvPr>
            <p:ph type="pic" sz="quarter" idx="15"/>
          </p:nvPr>
        </p:nvPicPr>
        <p:blipFill>
          <a:blip r:embed="rId3"/>
          <a:srcRect r="19324" b="1"/>
          <a:stretch>
            <a:fillRect/>
          </a:stretch>
        </p:blipFill>
        <p:spPr>
          <a:xfrm>
            <a:off x="20" y="10"/>
            <a:ext cx="7734280" cy="6399142"/>
          </a:xfrm>
        </p:spPr>
      </p:pic>
      <p:sp>
        <p:nvSpPr>
          <p:cNvPr id="8" name="TextBox 7">
            <a:extLst>
              <a:ext uri="{FF2B5EF4-FFF2-40B4-BE49-F238E27FC236}">
                <a16:creationId xmlns:a16="http://schemas.microsoft.com/office/drawing/2014/main" id="{F014F8E4-3665-4040-AAA0-D8F9ABA6A09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ja-JP" altLang="en-US" sz="1400" b="1"/>
              <a:t>差分検証の重要性</a:t>
            </a:r>
          </a:p>
          <a:p>
            <a:pPr marL="0" lvl="1" indent="0">
              <a:spcBef>
                <a:spcPts val="1000"/>
              </a:spcBef>
              <a:spcAft>
                <a:spcPts val="600"/>
              </a:spcAft>
              <a:buFont typeface="Arial" panose="020B0604020202020204" pitchFamily="34" charset="0"/>
              <a:buNone/>
            </a:pPr>
            <a:r>
              <a:rPr lang="en-US" sz="1400"/>
              <a:t>Excel</a:t>
            </a:r>
            <a:r>
              <a:rPr lang="ja-JP" altLang="en-US" sz="1400"/>
              <a:t>や</a:t>
            </a:r>
            <a:r>
              <a:rPr lang="en-US" sz="1400"/>
              <a:t>Markdown</a:t>
            </a:r>
            <a:r>
              <a:rPr lang="ja-JP" altLang="en-US" sz="1400"/>
              <a:t>で回答差分を効率的に検証し、正確なデータ管理を実現します。</a:t>
            </a:r>
          </a:p>
          <a:p>
            <a:pPr marL="0" indent="0">
              <a:spcBef>
                <a:spcPts val="2500"/>
              </a:spcBef>
              <a:spcAft>
                <a:spcPts val="600"/>
              </a:spcAft>
              <a:buFont typeface="Arial" panose="020B0604020202020204" pitchFamily="34" charset="0"/>
              <a:buNone/>
            </a:pPr>
            <a:r>
              <a:rPr lang="en-US" sz="1400" b="1"/>
              <a:t>AI</a:t>
            </a:r>
            <a:r>
              <a:rPr lang="ja-JP" altLang="en-US" sz="1400" b="1"/>
              <a:t>フレンドリー形式変換</a:t>
            </a:r>
          </a:p>
          <a:p>
            <a:pPr marL="0" lvl="1" indent="0">
              <a:spcBef>
                <a:spcPts val="1000"/>
              </a:spcBef>
              <a:spcAft>
                <a:spcPts val="600"/>
              </a:spcAft>
              <a:buFont typeface="Arial" panose="020B0604020202020204" pitchFamily="34" charset="0"/>
              <a:buNone/>
            </a:pPr>
            <a:r>
              <a:rPr lang="en-US" sz="1400"/>
              <a:t>AI</a:t>
            </a:r>
            <a:r>
              <a:rPr lang="ja-JP" altLang="en-US" sz="1400"/>
              <a:t>が理解しやすい形式への変換を提案し、解析効率を大幅に向上させます。</a:t>
            </a:r>
          </a:p>
        </p:txBody>
      </p:sp>
      <p:sp>
        <p:nvSpPr>
          <p:cNvPr id="4" name="Date Placeholder 3">
            <a:extLst>
              <a:ext uri="{FF2B5EF4-FFF2-40B4-BE49-F238E27FC236}">
                <a16:creationId xmlns:a16="http://schemas.microsoft.com/office/drawing/2014/main" id="{8B44BF42-50D0-873E-2F48-7AEAD6575DB7}"/>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962D1F3F-B13A-BB65-3CBC-8D8AF981927A}"/>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kumimoji="1" lang="en-US" kern="1200">
                <a:latin typeface="+mn-lt"/>
                <a:ea typeface="+mn-ea"/>
                <a:cs typeface="+mn-cs"/>
              </a:rPr>
              <a:t>Sample Footer Text</a:t>
            </a:r>
          </a:p>
        </p:txBody>
      </p:sp>
      <p:sp>
        <p:nvSpPr>
          <p:cNvPr id="6" name="Slide Number Placeholder 5">
            <a:extLst>
              <a:ext uri="{FF2B5EF4-FFF2-40B4-BE49-F238E27FC236}">
                <a16:creationId xmlns:a16="http://schemas.microsoft.com/office/drawing/2014/main" id="{4861B97F-2894-AD76-DEC0-1AC0C7D9758D}"/>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17</a:t>
            </a:fld>
            <a:endParaRPr lang="en-US"/>
          </a:p>
        </p:txBody>
      </p:sp>
    </p:spTree>
    <p:extLst>
      <p:ext uri="{BB962C8B-B14F-4D97-AF65-F5344CB8AC3E}">
        <p14:creationId xmlns:p14="http://schemas.microsoft.com/office/powerpoint/2010/main" val="12412326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12429-51F4-7BBA-4774-9AE7A15C9163}"/>
              </a:ext>
            </a:extLst>
          </p:cNvPr>
          <p:cNvSpPr>
            <a:spLocks noGrp="1"/>
          </p:cNvSpPr>
          <p:nvPr>
            <p:ph type="title"/>
          </p:nvPr>
        </p:nvSpPr>
        <p:spPr>
          <a:xfrm>
            <a:off x="429768" y="429768"/>
            <a:ext cx="10890374" cy="1627632"/>
          </a:xfrm>
        </p:spPr>
        <p:txBody>
          <a:bodyPr anchor="t">
            <a:normAutofit/>
          </a:bodyPr>
          <a:lstStyle/>
          <a:p>
            <a:r>
              <a:rPr lang="en-US"/>
              <a:t>まとめと今後の展望</a:t>
            </a:r>
          </a:p>
        </p:txBody>
      </p:sp>
      <p:graphicFrame>
        <p:nvGraphicFramePr>
          <p:cNvPr id="10" name="Content Placeholder 2">
            <a:extLst>
              <a:ext uri="{FF2B5EF4-FFF2-40B4-BE49-F238E27FC236}">
                <a16:creationId xmlns:a16="http://schemas.microsoft.com/office/drawing/2014/main" id="{C0DDC476-1B0E-3A03-A968-7F2CB89380BC}"/>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3264408"/>
          <a:ext cx="10890374" cy="283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E451F8F4-A1B6-6CEF-4A33-EE620B297676}"/>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1/14/2026</a:t>
            </a:fld>
            <a:endParaRPr lang="en-US"/>
          </a:p>
        </p:txBody>
      </p:sp>
      <p:sp>
        <p:nvSpPr>
          <p:cNvPr id="5" name="Footer Placeholder 4">
            <a:extLst>
              <a:ext uri="{FF2B5EF4-FFF2-40B4-BE49-F238E27FC236}">
                <a16:creationId xmlns:a16="http://schemas.microsoft.com/office/drawing/2014/main" id="{386C2619-B868-091B-9877-57EFC1196C4C}"/>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dirty="0"/>
              <a:t>Sample Footer Text</a:t>
            </a:r>
            <a:endParaRPr lang="en-US"/>
          </a:p>
        </p:txBody>
      </p:sp>
      <p:sp>
        <p:nvSpPr>
          <p:cNvPr id="6" name="Slide Number Placeholder 5">
            <a:extLst>
              <a:ext uri="{FF2B5EF4-FFF2-40B4-BE49-F238E27FC236}">
                <a16:creationId xmlns:a16="http://schemas.microsoft.com/office/drawing/2014/main" id="{66BD4C7F-B8DC-10B5-E7C2-AC374A2AE7F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18</a:t>
            </a:fld>
            <a:endParaRPr lang="en-US"/>
          </a:p>
        </p:txBody>
      </p:sp>
    </p:spTree>
    <p:extLst>
      <p:ext uri="{BB962C8B-B14F-4D97-AF65-F5344CB8AC3E}">
        <p14:creationId xmlns:p14="http://schemas.microsoft.com/office/powerpoint/2010/main" val="2839986832"/>
      </p:ext>
    </p:extLst>
  </p:cSld>
  <p:clrMapOvr>
    <a:masterClrMapping/>
  </p:clrMapOvr>
  <p:transition>
    <p:fade/>
  </p:transition>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31B074A928B0B4BA6C00FD003A239B9" ma:contentTypeVersion="3" ma:contentTypeDescription="新しいドキュメントを作成します。" ma:contentTypeScope="" ma:versionID="a59758289625d0fa159ba1c492311640">
  <xsd:schema xmlns:xsd="http://www.w3.org/2001/XMLSchema" xmlns:xs="http://www.w3.org/2001/XMLSchema" xmlns:p="http://schemas.microsoft.com/office/2006/metadata/properties" xmlns:ns2="71120603-ac60-4fc7-8111-4de32c17a5ef" targetNamespace="http://schemas.microsoft.com/office/2006/metadata/properties" ma:root="true" ma:fieldsID="535a33b0301e1eee2fc6220671db4663" ns2:_="">
    <xsd:import namespace="71120603-ac60-4fc7-8111-4de32c17a5e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120603-ac60-4fc7-8111-4de32c17a5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F3136E-C40A-4393-BA6D-906BC976960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73CFA98-D00F-4EC7-835D-F2A15ADAFA58}">
  <ds:schemaRefs>
    <ds:schemaRef ds:uri="http://schemas.microsoft.com/sharepoint/v3/contenttype/forms"/>
  </ds:schemaRefs>
</ds:datastoreItem>
</file>

<file path=customXml/itemProps3.xml><?xml version="1.0" encoding="utf-8"?>
<ds:datastoreItem xmlns:ds="http://schemas.openxmlformats.org/officeDocument/2006/customXml" ds:itemID="{70D75E4D-472A-4353-8DD2-E1ECAC5E0C1D}"/>
</file>

<file path=docProps/app.xml><?xml version="1.0" encoding="utf-8"?>
<Properties xmlns="http://schemas.openxmlformats.org/officeDocument/2006/extended-properties" xmlns:vt="http://schemas.openxmlformats.org/officeDocument/2006/docPropsVTypes">
  <TotalTime>1</TotalTime>
  <Words>1156</Words>
  <Application>Microsoft Office PowerPoint</Application>
  <PresentationFormat>Widescreen</PresentationFormat>
  <Paragraphs>179</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OasisVTI</vt:lpstr>
      <vt:lpstr>M365 Copilotを活用したエージェント開発の活動報告 2026/12/26</vt:lpstr>
      <vt:lpstr>本日のアジェンダ</vt:lpstr>
      <vt:lpstr>成果の概要とCopilotエージェントの説明</vt:lpstr>
      <vt:lpstr>M365 Copilotでエージェントを作成した成果</vt:lpstr>
      <vt:lpstr>Copilotエージェントの特徴と機能の解説</vt:lpstr>
      <vt:lpstr>アプリ開発工程の詳細</vt:lpstr>
      <vt:lpstr>Kiroを利用したアプリ作成の流れ</vt:lpstr>
      <vt:lpstr>アプリの基本的な機能と説明</vt:lpstr>
      <vt:lpstr>Copilotエージェントの組み込み方法</vt:lpstr>
      <vt:lpstr>エージェントの評価と検証</vt:lpstr>
      <vt:lpstr>エージェント評価の観点と手順</vt:lpstr>
      <vt:lpstr>アプリ内でのエージェント動作の検証</vt:lpstr>
      <vt:lpstr>初期評価結果のまとめ</vt:lpstr>
      <vt:lpstr>今後の予定と追加検証</vt:lpstr>
      <vt:lpstr>アプリの動作がエージェントの回答通りかチェックする計画</vt:lpstr>
      <vt:lpstr>エージェントのデータ参照先の検証方法</vt:lpstr>
      <vt:lpstr>余裕があればExcelとMarkdownでの回答差分検証とAIフレンドリー形式の提案</vt:lpstr>
      <vt:lpstr>まとめと今後の展望</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千葉 泰誠</cp:lastModifiedBy>
  <cp:revision>5</cp:revision>
  <dcterms:created xsi:type="dcterms:W3CDTF">2025-12-26T07:04:07Z</dcterms:created>
  <dcterms:modified xsi:type="dcterms:W3CDTF">2026-01-15T07:47:44Z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0x010100631B074A928B0B4BA6C00FD003A239B9</vt:lpwstr>
  </property>
</Properties>
</file>